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  <p:embeddedFont>
      <p:font typeface="Hedvig Letters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1a1d8cca37d7f68d0a6170381b34ce537252a4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B2A">
                  <a:alpha val="95000"/>
                </a:srgbClr>
              </a:gs>
              <a:gs pos="50000">
                <a:srgbClr val="415A77">
                  <a:alpha val="80000"/>
                </a:srgbClr>
              </a:gs>
              <a:gs pos="100000">
                <a:srgbClr val="00B4D8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50718" y="1588294"/>
            <a:ext cx="1885950" cy="390525"/>
          </a:xfrm>
          <a:custGeom>
            <a:avLst/>
            <a:gdLst/>
            <a:ahLst/>
            <a:cxnLst/>
            <a:rect l="l" t="t" r="r" b="b"/>
            <a:pathLst>
              <a:path w="1885950" h="390525">
                <a:moveTo>
                  <a:pt x="195263" y="0"/>
                </a:moveTo>
                <a:lnTo>
                  <a:pt x="1690688" y="0"/>
                </a:lnTo>
                <a:cubicBezTo>
                  <a:pt x="1798456" y="0"/>
                  <a:pt x="1885950" y="87494"/>
                  <a:pt x="1885950" y="195263"/>
                </a:cubicBezTo>
                <a:lnTo>
                  <a:pt x="1885950" y="195263"/>
                </a:lnTo>
                <a:cubicBezTo>
                  <a:pt x="1885950" y="303031"/>
                  <a:pt x="1798456" y="390525"/>
                  <a:pt x="16906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45981" y="1697831"/>
            <a:ext cx="1499964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2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Pitch Deck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30290" y="2440781"/>
            <a:ext cx="49339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spc="-180" kern="0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PageMe V3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38800" y="358378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2366963" y="392668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E0E1DD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Modern Healthcare Workforce Scheduling &amp; Management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92338" y="5007769"/>
            <a:ext cx="621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1D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Medical Residency to Enterprise Healthcare Workforce Management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Healthcare Scheduling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343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14350" y="247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343150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2686050"/>
            <a:ext cx="5029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scheduling is stuck in the past—spread across multiple disconnected tools that don't talk to each other. Legacy platforms focus on logging but fail at intelligent scheduling.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14350" y="3752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619500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&amp; Error-Prone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962400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tracking is manual and error-prone. Block scheduling—the standard in healthcare—is poorly supported by existing solutions.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4350" y="4781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4648200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Administrative Burden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4991100"/>
            <a:ext cx="5029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workers waste hours on administrative tasks instead of patient care. The result: scheduling conflicts, compliance violations, and burned-out staff.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400" y="1485900"/>
            <a:ext cx="5562600" cy="5105400"/>
          </a:xfrm>
          <a:custGeom>
            <a:avLst/>
            <a:gdLst/>
            <a:ahLst/>
            <a:cxnLst/>
            <a:rect l="l" t="t" r="r" b="b"/>
            <a:pathLst>
              <a:path w="5562600" h="5105400">
                <a:moveTo>
                  <a:pt x="152396" y="0"/>
                </a:moveTo>
                <a:lnTo>
                  <a:pt x="5410204" y="0"/>
                </a:lnTo>
                <a:cubicBezTo>
                  <a:pt x="5494370" y="0"/>
                  <a:pt x="5562600" y="68230"/>
                  <a:pt x="5562600" y="152396"/>
                </a:cubicBezTo>
                <a:lnTo>
                  <a:pt x="5562600" y="4953004"/>
                </a:lnTo>
                <a:cubicBezTo>
                  <a:pt x="5562600" y="5037170"/>
                  <a:pt x="5494370" y="5105400"/>
                  <a:pt x="5410204" y="5105400"/>
                </a:cubicBezTo>
                <a:lnTo>
                  <a:pt x="152396" y="5105400"/>
                </a:lnTo>
                <a:cubicBezTo>
                  <a:pt x="68230" y="5105400"/>
                  <a:pt x="0" y="5037170"/>
                  <a:pt x="0" y="49530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48700" y="1790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58250" y="20002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496050" y="2705100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 of Inefficiency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53200" y="3390900"/>
            <a:ext cx="4953000" cy="609600"/>
          </a:xfrm>
          <a:custGeom>
            <a:avLst/>
            <a:gdLst/>
            <a:ahLst/>
            <a:cxnLst/>
            <a:rect l="l" t="t" r="r" b="b"/>
            <a:pathLst>
              <a:path w="4953000" h="609600">
                <a:moveTo>
                  <a:pt x="114300" y="0"/>
                </a:moveTo>
                <a:lnTo>
                  <a:pt x="4838700" y="0"/>
                </a:lnTo>
                <a:cubicBezTo>
                  <a:pt x="4901784" y="0"/>
                  <a:pt x="4953000" y="51216"/>
                  <a:pt x="4953000" y="114300"/>
                </a:cubicBezTo>
                <a:lnTo>
                  <a:pt x="4953000" y="495300"/>
                </a:lnTo>
                <a:cubicBezTo>
                  <a:pt x="4953000" y="558384"/>
                  <a:pt x="4901784" y="609600"/>
                  <a:pt x="48387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705600" y="35814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scheduling time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67169" y="3543300"/>
            <a:ext cx="90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3+ days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53200" y="4152900"/>
            <a:ext cx="4953000" cy="609600"/>
          </a:xfrm>
          <a:custGeom>
            <a:avLst/>
            <a:gdLst/>
            <a:ahLst/>
            <a:cxnLst/>
            <a:rect l="l" t="t" r="r" b="b"/>
            <a:pathLst>
              <a:path w="4953000" h="609600">
                <a:moveTo>
                  <a:pt x="114300" y="0"/>
                </a:moveTo>
                <a:lnTo>
                  <a:pt x="4838700" y="0"/>
                </a:lnTo>
                <a:cubicBezTo>
                  <a:pt x="4901784" y="0"/>
                  <a:pt x="4953000" y="51216"/>
                  <a:pt x="4953000" y="114300"/>
                </a:cubicBezTo>
                <a:lnTo>
                  <a:pt x="4953000" y="495300"/>
                </a:lnTo>
                <a:cubicBezTo>
                  <a:pt x="4953000" y="558384"/>
                  <a:pt x="4901784" y="609600"/>
                  <a:pt x="48387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705600" y="434340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 conflicts per month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93660" y="430530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15-25%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53200" y="4914900"/>
            <a:ext cx="4953000" cy="609600"/>
          </a:xfrm>
          <a:custGeom>
            <a:avLst/>
            <a:gdLst/>
            <a:ahLst/>
            <a:cxnLst/>
            <a:rect l="l" t="t" r="r" b="b"/>
            <a:pathLst>
              <a:path w="4953000" h="609600">
                <a:moveTo>
                  <a:pt x="114300" y="0"/>
                </a:moveTo>
                <a:lnTo>
                  <a:pt x="4838700" y="0"/>
                </a:lnTo>
                <a:cubicBezTo>
                  <a:pt x="4901784" y="0"/>
                  <a:pt x="4953000" y="51216"/>
                  <a:pt x="4953000" y="114300"/>
                </a:cubicBezTo>
                <a:lnTo>
                  <a:pt x="4953000" y="495300"/>
                </a:lnTo>
                <a:cubicBezTo>
                  <a:pt x="4953000" y="558384"/>
                  <a:pt x="4901784" y="609600"/>
                  <a:pt x="48387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6705600" y="51054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violations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68421" y="5067300"/>
            <a:ext cx="1000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53200" y="5676900"/>
            <a:ext cx="4953000" cy="609600"/>
          </a:xfrm>
          <a:custGeom>
            <a:avLst/>
            <a:gdLst/>
            <a:ahLst/>
            <a:cxnLst/>
            <a:rect l="l" t="t" r="r" b="b"/>
            <a:pathLst>
              <a:path w="4953000" h="609600">
                <a:moveTo>
                  <a:pt x="114300" y="0"/>
                </a:moveTo>
                <a:lnTo>
                  <a:pt x="4838700" y="0"/>
                </a:lnTo>
                <a:cubicBezTo>
                  <a:pt x="4901784" y="0"/>
                  <a:pt x="4953000" y="51216"/>
                  <a:pt x="4953000" y="114300"/>
                </a:cubicBezTo>
                <a:lnTo>
                  <a:pt x="4953000" y="495300"/>
                </a:lnTo>
                <a:cubicBezTo>
                  <a:pt x="4953000" y="558384"/>
                  <a:pt x="4901784" y="609600"/>
                  <a:pt x="48387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6705600" y="586740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satisfaction impact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45502" y="5829300"/>
            <a:ext cx="101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Workforce Management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164556"/>
            <a:ext cx="68580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PageMe V3 is 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0D1B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cloud-native platform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unifies scheduling, tracking, and compliance in one intuitive system. Built specifically for healthcare's block scheduling model.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3283744"/>
            <a:ext cx="3286125" cy="1181100"/>
          </a:xfrm>
          <a:custGeom>
            <a:avLst/>
            <a:gdLst/>
            <a:ahLst/>
            <a:cxnLst/>
            <a:rect l="l" t="t" r="r" b="b"/>
            <a:pathLst>
              <a:path w="3286125" h="1181100">
                <a:moveTo>
                  <a:pt x="38100" y="0"/>
                </a:moveTo>
                <a:lnTo>
                  <a:pt x="3171830" y="0"/>
                </a:lnTo>
                <a:cubicBezTo>
                  <a:pt x="3234953" y="0"/>
                  <a:pt x="3286125" y="51172"/>
                  <a:pt x="3286125" y="114295"/>
                </a:cubicBezTo>
                <a:lnTo>
                  <a:pt x="3286125" y="1066805"/>
                </a:lnTo>
                <a:cubicBezTo>
                  <a:pt x="3286125" y="1129928"/>
                  <a:pt x="3234953" y="1181100"/>
                  <a:pt x="31718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3283744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645319" y="35123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962025" y="3474244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Scheduling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3817144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 interface makes complex scheduling simple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9485" y="3283744"/>
            <a:ext cx="3286125" cy="1181100"/>
          </a:xfrm>
          <a:custGeom>
            <a:avLst/>
            <a:gdLst/>
            <a:ahLst/>
            <a:cxnLst/>
            <a:rect l="l" t="t" r="r" b="b"/>
            <a:pathLst>
              <a:path w="3286125" h="1181100">
                <a:moveTo>
                  <a:pt x="38100" y="0"/>
                </a:moveTo>
                <a:lnTo>
                  <a:pt x="3171830" y="0"/>
                </a:lnTo>
                <a:cubicBezTo>
                  <a:pt x="3234953" y="0"/>
                  <a:pt x="3286125" y="51172"/>
                  <a:pt x="3286125" y="114295"/>
                </a:cubicBezTo>
                <a:lnTo>
                  <a:pt x="3286125" y="1066805"/>
                </a:lnTo>
                <a:cubicBezTo>
                  <a:pt x="3286125" y="1129928"/>
                  <a:pt x="3234953" y="1181100"/>
                  <a:pt x="31718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59485" y="3283744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092848" y="35123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21460" y="3474244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Compliance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35" y="3817144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ACGME compliance with instant violation alerts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4617244"/>
            <a:ext cx="3286125" cy="1181100"/>
          </a:xfrm>
          <a:custGeom>
            <a:avLst/>
            <a:gdLst/>
            <a:ahLst/>
            <a:cxnLst/>
            <a:rect l="l" t="t" r="r" b="b"/>
            <a:pathLst>
              <a:path w="3286125" h="1181100">
                <a:moveTo>
                  <a:pt x="38100" y="0"/>
                </a:moveTo>
                <a:lnTo>
                  <a:pt x="3171830" y="0"/>
                </a:lnTo>
                <a:cubicBezTo>
                  <a:pt x="3234953" y="0"/>
                  <a:pt x="3286125" y="51172"/>
                  <a:pt x="3286125" y="114295"/>
                </a:cubicBezTo>
                <a:lnTo>
                  <a:pt x="3286125" y="1066805"/>
                </a:lnTo>
                <a:cubicBezTo>
                  <a:pt x="3286125" y="1129928"/>
                  <a:pt x="3234953" y="1181100"/>
                  <a:pt x="31718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4617244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319" y="48458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" y="4807744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Conflict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5150644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conflict detection prevents scheduling errors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9485" y="4617244"/>
            <a:ext cx="3286125" cy="1181100"/>
          </a:xfrm>
          <a:custGeom>
            <a:avLst/>
            <a:gdLst/>
            <a:ahLst/>
            <a:cxnLst/>
            <a:rect l="l" t="t" r="r" b="b"/>
            <a:pathLst>
              <a:path w="3286125" h="1181100">
                <a:moveTo>
                  <a:pt x="38100" y="0"/>
                </a:moveTo>
                <a:lnTo>
                  <a:pt x="3171830" y="0"/>
                </a:lnTo>
                <a:cubicBezTo>
                  <a:pt x="3234953" y="0"/>
                  <a:pt x="3286125" y="51172"/>
                  <a:pt x="3286125" y="114295"/>
                </a:cubicBezTo>
                <a:lnTo>
                  <a:pt x="3286125" y="1066805"/>
                </a:lnTo>
                <a:cubicBezTo>
                  <a:pt x="3286125" y="1129928"/>
                  <a:pt x="3234953" y="1181100"/>
                  <a:pt x="31718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59485" y="4617244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4080942" y="484584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421460" y="4807744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69035" y="5150644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security with multi-tenant SaaS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76145" y="1485900"/>
            <a:ext cx="4438650" cy="4991100"/>
          </a:xfrm>
          <a:custGeom>
            <a:avLst/>
            <a:gdLst/>
            <a:ahLst/>
            <a:cxnLst/>
            <a:rect l="l" t="t" r="r" b="b"/>
            <a:pathLst>
              <a:path w="4438650" h="4991100">
                <a:moveTo>
                  <a:pt x="152379" y="0"/>
                </a:moveTo>
                <a:lnTo>
                  <a:pt x="4286271" y="0"/>
                </a:lnTo>
                <a:cubicBezTo>
                  <a:pt x="4370371" y="0"/>
                  <a:pt x="4438650" y="68279"/>
                  <a:pt x="4438650" y="152379"/>
                </a:cubicBezTo>
                <a:lnTo>
                  <a:pt x="4438650" y="4838721"/>
                </a:lnTo>
                <a:cubicBezTo>
                  <a:pt x="4438650" y="4922878"/>
                  <a:pt x="4370428" y="4991100"/>
                  <a:pt x="4286271" y="4991100"/>
                </a:cubicBezTo>
                <a:lnTo>
                  <a:pt x="152379" y="4991100"/>
                </a:lnTo>
                <a:cubicBezTo>
                  <a:pt x="68279" y="4991100"/>
                  <a:pt x="0" y="4922821"/>
                  <a:pt x="0" y="4838721"/>
                </a:cubicBezTo>
                <a:lnTo>
                  <a:pt x="0" y="152379"/>
                </a:lnTo>
                <a:cubicBezTo>
                  <a:pt x="0" y="68222"/>
                  <a:pt x="68222" y="0"/>
                  <a:pt x="152379" y="0"/>
                </a:cubicBezTo>
                <a:close/>
              </a:path>
            </a:pathLst>
          </a:custGeom>
          <a:gradFill rotWithShape="1" flip="none">
            <a:gsLst>
              <a:gs pos="0">
                <a:srgbClr val="0D1B2A"/>
              </a:gs>
              <a:gs pos="100000">
                <a:srgbClr val="415A77"/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9364935" y="1895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7623795" y="2505075"/>
            <a:ext cx="394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66645" y="3114675"/>
            <a:ext cx="4057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42845" y="3609975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scheduling time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80945" y="4029075"/>
            <a:ext cx="3829050" cy="9525"/>
          </a:xfrm>
          <a:custGeom>
            <a:avLst/>
            <a:gdLst/>
            <a:ahLst/>
            <a:cxnLst/>
            <a:rect l="l" t="t" r="r" b="b"/>
            <a:pathLst>
              <a:path w="3829050" h="9525">
                <a:moveTo>
                  <a:pt x="0" y="0"/>
                </a:moveTo>
                <a:lnTo>
                  <a:pt x="3829050" y="0"/>
                </a:lnTo>
                <a:lnTo>
                  <a:pt x="3829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0E1DD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566645" y="4229100"/>
            <a:ext cx="4057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42845" y="4724400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violations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80945" y="5143500"/>
            <a:ext cx="3829050" cy="9525"/>
          </a:xfrm>
          <a:custGeom>
            <a:avLst/>
            <a:gdLst/>
            <a:ahLst/>
            <a:cxnLst/>
            <a:rect l="l" t="t" r="r" b="b"/>
            <a:pathLst>
              <a:path w="3829050" h="9525">
                <a:moveTo>
                  <a:pt x="0" y="0"/>
                </a:moveTo>
                <a:lnTo>
                  <a:pt x="3829050" y="0"/>
                </a:lnTo>
                <a:lnTo>
                  <a:pt x="3829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0E1DD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566645" y="5343525"/>
            <a:ext cx="4057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42845" y="5838825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visibility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85900"/>
            <a:ext cx="3686175" cy="2266950"/>
          </a:xfrm>
          <a:custGeom>
            <a:avLst/>
            <a:gdLst/>
            <a:ahLst/>
            <a:cxnLst/>
            <a:rect l="l" t="t" r="r" b="b"/>
            <a:pathLst>
              <a:path w="3686175" h="2266950">
                <a:moveTo>
                  <a:pt x="114300" y="0"/>
                </a:moveTo>
                <a:lnTo>
                  <a:pt x="3571875" y="0"/>
                </a:lnTo>
                <a:cubicBezTo>
                  <a:pt x="3635001" y="0"/>
                  <a:pt x="3686175" y="51174"/>
                  <a:pt x="3686175" y="114300"/>
                </a:cubicBezTo>
                <a:lnTo>
                  <a:pt x="3686175" y="2152650"/>
                </a:lnTo>
                <a:cubicBezTo>
                  <a:pt x="3686175" y="2215776"/>
                  <a:pt x="3635001" y="2266950"/>
                  <a:pt x="357187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4856" y="184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142875" y="59531"/>
                </a:lnTo>
                <a:lnTo>
                  <a:pt x="119063" y="59531"/>
                </a:lnTo>
                <a:lnTo>
                  <a:pt x="119063" y="35719"/>
                </a:lnTo>
                <a:lnTo>
                  <a:pt x="142875" y="35719"/>
                </a:lnTo>
                <a:close/>
                <a:moveTo>
                  <a:pt x="142875" y="83344"/>
                </a:moveTo>
                <a:lnTo>
                  <a:pt x="142875" y="107156"/>
                </a:lnTo>
                <a:lnTo>
                  <a:pt x="119063" y="107156"/>
                </a:lnTo>
                <a:lnTo>
                  <a:pt x="119063" y="83344"/>
                </a:lnTo>
                <a:lnTo>
                  <a:pt x="142875" y="83344"/>
                </a:lnTo>
                <a:close/>
                <a:moveTo>
                  <a:pt x="142875" y="130969"/>
                </a:moveTo>
                <a:lnTo>
                  <a:pt x="142875" y="154781"/>
                </a:lnTo>
                <a:lnTo>
                  <a:pt x="119063" y="154781"/>
                </a:lnTo>
                <a:lnTo>
                  <a:pt x="119063" y="130969"/>
                </a:lnTo>
                <a:lnTo>
                  <a:pt x="142875" y="130969"/>
                </a:lnTo>
                <a:close/>
                <a:moveTo>
                  <a:pt x="95250" y="107156"/>
                </a:moveTo>
                <a:lnTo>
                  <a:pt x="71438" y="107156"/>
                </a:lnTo>
                <a:lnTo>
                  <a:pt x="71438" y="83344"/>
                </a:lnTo>
                <a:lnTo>
                  <a:pt x="95250" y="83344"/>
                </a:lnTo>
                <a:lnTo>
                  <a:pt x="95250" y="107156"/>
                </a:lnTo>
                <a:close/>
                <a:moveTo>
                  <a:pt x="71438" y="130969"/>
                </a:moveTo>
                <a:lnTo>
                  <a:pt x="95250" y="130969"/>
                </a:lnTo>
                <a:lnTo>
                  <a:pt x="95250" y="154781"/>
                </a:lnTo>
                <a:lnTo>
                  <a:pt x="71438" y="154781"/>
                </a:lnTo>
                <a:lnTo>
                  <a:pt x="71438" y="130969"/>
                </a:lnTo>
                <a:close/>
                <a:moveTo>
                  <a:pt x="47625" y="107156"/>
                </a:moveTo>
                <a:lnTo>
                  <a:pt x="23812" y="107156"/>
                </a:lnTo>
                <a:lnTo>
                  <a:pt x="23812" y="83344"/>
                </a:lnTo>
                <a:lnTo>
                  <a:pt x="47625" y="83344"/>
                </a:lnTo>
                <a:lnTo>
                  <a:pt x="47625" y="107156"/>
                </a:lnTo>
                <a:close/>
                <a:moveTo>
                  <a:pt x="23812" y="130969"/>
                </a:moveTo>
                <a:lnTo>
                  <a:pt x="47625" y="130969"/>
                </a:lnTo>
                <a:lnTo>
                  <a:pt x="47625" y="154781"/>
                </a:ln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23812" y="59531"/>
                </a:moveTo>
                <a:lnTo>
                  <a:pt x="23812" y="35719"/>
                </a:lnTo>
                <a:lnTo>
                  <a:pt x="47625" y="35719"/>
                </a:lnTo>
                <a:lnTo>
                  <a:pt x="47625" y="59531"/>
                </a:lnTo>
                <a:lnTo>
                  <a:pt x="23812" y="59531"/>
                </a:lnTo>
                <a:close/>
                <a:moveTo>
                  <a:pt x="71438" y="59531"/>
                </a:moveTo>
                <a:lnTo>
                  <a:pt x="71438" y="35719"/>
                </a:lnTo>
                <a:lnTo>
                  <a:pt x="95250" y="35719"/>
                </a:lnTo>
                <a:lnTo>
                  <a:pt x="95250" y="59531"/>
                </a:lnTo>
                <a:lnTo>
                  <a:pt x="71438" y="59531"/>
                </a:lnTo>
                <a:close/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180975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Scheduling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8175" y="236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23241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rotation management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8175" y="2667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26289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shift definitions with time windows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8175" y="2971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29337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grid interface with drag-and-drop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3276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3238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conflict detection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4475" y="1485900"/>
            <a:ext cx="3686175" cy="2266950"/>
          </a:xfrm>
          <a:custGeom>
            <a:avLst/>
            <a:gdLst/>
            <a:ahLst/>
            <a:cxnLst/>
            <a:rect l="l" t="t" r="r" b="b"/>
            <a:pathLst>
              <a:path w="3686175" h="2266950">
                <a:moveTo>
                  <a:pt x="114300" y="0"/>
                </a:moveTo>
                <a:lnTo>
                  <a:pt x="3571875" y="0"/>
                </a:lnTo>
                <a:cubicBezTo>
                  <a:pt x="3635001" y="0"/>
                  <a:pt x="3686175" y="51174"/>
                  <a:pt x="3686175" y="114300"/>
                </a:cubicBezTo>
                <a:lnTo>
                  <a:pt x="3686175" y="2152650"/>
                </a:lnTo>
                <a:cubicBezTo>
                  <a:pt x="3686175" y="2215776"/>
                  <a:pt x="3635001" y="2266950"/>
                  <a:pt x="357187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3075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640238" y="18478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054575" y="18097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ACGME Compliance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11650" y="236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749775" y="23241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duty hours tracking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11650" y="2667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749775" y="2628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violation detection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11650" y="2971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749775" y="29337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reporting dashboard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11650" y="3276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749775" y="323850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Workload balancing analytics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7950" y="1485900"/>
            <a:ext cx="3686175" cy="2266950"/>
          </a:xfrm>
          <a:custGeom>
            <a:avLst/>
            <a:gdLst/>
            <a:ahLst/>
            <a:cxnLst/>
            <a:rect l="l" t="t" r="r" b="b"/>
            <a:pathLst>
              <a:path w="3686175" h="2266950">
                <a:moveTo>
                  <a:pt x="114300" y="0"/>
                </a:moveTo>
                <a:lnTo>
                  <a:pt x="3571875" y="0"/>
                </a:lnTo>
                <a:cubicBezTo>
                  <a:pt x="3635001" y="0"/>
                  <a:pt x="3686175" y="51174"/>
                  <a:pt x="3686175" y="114300"/>
                </a:cubicBezTo>
                <a:lnTo>
                  <a:pt x="3686175" y="2152650"/>
                </a:lnTo>
                <a:cubicBezTo>
                  <a:pt x="3686175" y="2215776"/>
                  <a:pt x="3635001" y="2266950"/>
                  <a:pt x="357187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5655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66088" y="18478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83344"/>
                </a:moveTo>
                <a:cubicBezTo>
                  <a:pt x="140419" y="83344"/>
                  <a:pt x="157758" y="66005"/>
                  <a:pt x="157758" y="44648"/>
                </a:cubicBezTo>
                <a:cubicBezTo>
                  <a:pt x="157758" y="23292"/>
                  <a:pt x="140419" y="5953"/>
                  <a:pt x="119063" y="5953"/>
                </a:cubicBezTo>
                <a:cubicBezTo>
                  <a:pt x="97706" y="5953"/>
                  <a:pt x="80367" y="23292"/>
                  <a:pt x="80367" y="44648"/>
                </a:cubicBezTo>
                <a:cubicBezTo>
                  <a:pt x="80367" y="66005"/>
                  <a:pt x="97706" y="83344"/>
                  <a:pt x="119063" y="83344"/>
                </a:cubicBezTo>
                <a:close/>
                <a:moveTo>
                  <a:pt x="35719" y="86320"/>
                </a:moveTo>
                <a:cubicBezTo>
                  <a:pt x="50504" y="86320"/>
                  <a:pt x="62508" y="74317"/>
                  <a:pt x="62508" y="59531"/>
                </a:cubicBezTo>
                <a:cubicBezTo>
                  <a:pt x="62508" y="44746"/>
                  <a:pt x="50504" y="32742"/>
                  <a:pt x="35719" y="32742"/>
                </a:cubicBezTo>
                <a:cubicBezTo>
                  <a:pt x="20933" y="32742"/>
                  <a:pt x="8930" y="44746"/>
                  <a:pt x="8930" y="59531"/>
                </a:cubicBezTo>
                <a:cubicBezTo>
                  <a:pt x="8930" y="74317"/>
                  <a:pt x="20933" y="86320"/>
                  <a:pt x="35719" y="86320"/>
                </a:cubicBezTo>
                <a:close/>
                <a:moveTo>
                  <a:pt x="0" y="154781"/>
                </a:move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4165" y="178594"/>
                </a:lnTo>
                <a:cubicBezTo>
                  <a:pt x="42565" y="174947"/>
                  <a:pt x="41672" y="170929"/>
                  <a:pt x="41672" y="166688"/>
                </a:cubicBezTo>
                <a:lnTo>
                  <a:pt x="41672" y="160734"/>
                </a:lnTo>
                <a:cubicBezTo>
                  <a:pt x="41672" y="140940"/>
                  <a:pt x="49113" y="122858"/>
                  <a:pt x="61354" y="109165"/>
                </a:cubicBezTo>
                <a:cubicBezTo>
                  <a:pt x="57001" y="107863"/>
                  <a:pt x="52388" y="107156"/>
                  <a:pt x="47625" y="107156"/>
                </a:cubicBezTo>
                <a:cubicBezTo>
                  <a:pt x="21320" y="107156"/>
                  <a:pt x="0" y="128476"/>
                  <a:pt x="0" y="154781"/>
                </a:cubicBezTo>
                <a:close/>
                <a:moveTo>
                  <a:pt x="229195" y="59531"/>
                </a:moveTo>
                <a:cubicBezTo>
                  <a:pt x="229195" y="44746"/>
                  <a:pt x="217192" y="32742"/>
                  <a:pt x="202406" y="32742"/>
                </a:cubicBezTo>
                <a:cubicBezTo>
                  <a:pt x="187621" y="32742"/>
                  <a:pt x="175617" y="44746"/>
                  <a:pt x="175617" y="59531"/>
                </a:cubicBezTo>
                <a:cubicBezTo>
                  <a:pt x="175617" y="74317"/>
                  <a:pt x="187621" y="86320"/>
                  <a:pt x="202406" y="86320"/>
                </a:cubicBezTo>
                <a:cubicBezTo>
                  <a:pt x="217192" y="86320"/>
                  <a:pt x="229195" y="74317"/>
                  <a:pt x="229195" y="59531"/>
                </a:cubicBezTo>
                <a:close/>
                <a:moveTo>
                  <a:pt x="59531" y="160734"/>
                </a:moveTo>
                <a:lnTo>
                  <a:pt x="59531" y="166688"/>
                </a:lnTo>
                <a:cubicBezTo>
                  <a:pt x="59531" y="173273"/>
                  <a:pt x="64852" y="178594"/>
                  <a:pt x="71438" y="178594"/>
                </a:cubicBezTo>
                <a:lnTo>
                  <a:pt x="129778" y="178594"/>
                </a:lnTo>
                <a:cubicBezTo>
                  <a:pt x="127136" y="170557"/>
                  <a:pt x="127434" y="162074"/>
                  <a:pt x="133759" y="154781"/>
                </a:cubicBezTo>
                <a:cubicBezTo>
                  <a:pt x="128550" y="148754"/>
                  <a:pt x="126132" y="140010"/>
                  <a:pt x="129518" y="131229"/>
                </a:cubicBezTo>
                <a:cubicBezTo>
                  <a:pt x="131973" y="124867"/>
                  <a:pt x="135434" y="118914"/>
                  <a:pt x="139712" y="113630"/>
                </a:cubicBezTo>
                <a:cubicBezTo>
                  <a:pt x="141722" y="111175"/>
                  <a:pt x="144028" y="109277"/>
                  <a:pt x="146521" y="107900"/>
                </a:cubicBezTo>
                <a:cubicBezTo>
                  <a:pt x="138299" y="103622"/>
                  <a:pt x="128960" y="101203"/>
                  <a:pt x="119063" y="101203"/>
                </a:cubicBezTo>
                <a:cubicBezTo>
                  <a:pt x="86171" y="101203"/>
                  <a:pt x="59531" y="127843"/>
                  <a:pt x="59531" y="160734"/>
                </a:cubicBezTo>
                <a:close/>
                <a:moveTo>
                  <a:pt x="232395" y="144326"/>
                </a:moveTo>
                <a:cubicBezTo>
                  <a:pt x="234739" y="142987"/>
                  <a:pt x="235930" y="140196"/>
                  <a:pt x="234925" y="137629"/>
                </a:cubicBezTo>
                <a:cubicBezTo>
                  <a:pt x="233139" y="133015"/>
                  <a:pt x="230646" y="128662"/>
                  <a:pt x="227521" y="124830"/>
                </a:cubicBezTo>
                <a:cubicBezTo>
                  <a:pt x="225809" y="122709"/>
                  <a:pt x="222796" y="122337"/>
                  <a:pt x="220452" y="123713"/>
                </a:cubicBezTo>
                <a:cubicBezTo>
                  <a:pt x="212341" y="128401"/>
                  <a:pt x="202369" y="122672"/>
                  <a:pt x="202369" y="113258"/>
                </a:cubicBezTo>
                <a:cubicBezTo>
                  <a:pt x="202369" y="110542"/>
                  <a:pt x="200546" y="108124"/>
                  <a:pt x="197867" y="107714"/>
                </a:cubicBezTo>
                <a:cubicBezTo>
                  <a:pt x="193067" y="106970"/>
                  <a:pt x="187896" y="106970"/>
                  <a:pt x="183096" y="107714"/>
                </a:cubicBezTo>
                <a:cubicBezTo>
                  <a:pt x="180417" y="108124"/>
                  <a:pt x="178594" y="110542"/>
                  <a:pt x="178594" y="113258"/>
                </a:cubicBezTo>
                <a:cubicBezTo>
                  <a:pt x="178594" y="122634"/>
                  <a:pt x="168622" y="128401"/>
                  <a:pt x="160511" y="123713"/>
                </a:cubicBezTo>
                <a:cubicBezTo>
                  <a:pt x="158167" y="122374"/>
                  <a:pt x="155153" y="122746"/>
                  <a:pt x="153442" y="124830"/>
                </a:cubicBezTo>
                <a:cubicBezTo>
                  <a:pt x="150316" y="128662"/>
                  <a:pt x="147824" y="133015"/>
                  <a:pt x="146038" y="137629"/>
                </a:cubicBezTo>
                <a:cubicBezTo>
                  <a:pt x="145070" y="140159"/>
                  <a:pt x="146224" y="142949"/>
                  <a:pt x="148568" y="144289"/>
                </a:cubicBezTo>
                <a:cubicBezTo>
                  <a:pt x="156716" y="148977"/>
                  <a:pt x="156716" y="160474"/>
                  <a:pt x="148568" y="165199"/>
                </a:cubicBezTo>
                <a:cubicBezTo>
                  <a:pt x="146224" y="166539"/>
                  <a:pt x="145033" y="169329"/>
                  <a:pt x="146038" y="171859"/>
                </a:cubicBezTo>
                <a:cubicBezTo>
                  <a:pt x="147824" y="176473"/>
                  <a:pt x="150316" y="180826"/>
                  <a:pt x="153442" y="184658"/>
                </a:cubicBezTo>
                <a:cubicBezTo>
                  <a:pt x="155153" y="186779"/>
                  <a:pt x="158167" y="187151"/>
                  <a:pt x="160511" y="185775"/>
                </a:cubicBezTo>
                <a:cubicBezTo>
                  <a:pt x="168622" y="181087"/>
                  <a:pt x="178594" y="186854"/>
                  <a:pt x="178594" y="196230"/>
                </a:cubicBezTo>
                <a:cubicBezTo>
                  <a:pt x="178594" y="198946"/>
                  <a:pt x="180417" y="201364"/>
                  <a:pt x="183096" y="201774"/>
                </a:cubicBezTo>
                <a:cubicBezTo>
                  <a:pt x="187896" y="202518"/>
                  <a:pt x="193067" y="202518"/>
                  <a:pt x="197867" y="201774"/>
                </a:cubicBezTo>
                <a:cubicBezTo>
                  <a:pt x="200546" y="201364"/>
                  <a:pt x="202369" y="198946"/>
                  <a:pt x="202369" y="196230"/>
                </a:cubicBezTo>
                <a:cubicBezTo>
                  <a:pt x="202369" y="186854"/>
                  <a:pt x="212341" y="181087"/>
                  <a:pt x="220452" y="185775"/>
                </a:cubicBezTo>
                <a:cubicBezTo>
                  <a:pt x="222796" y="187114"/>
                  <a:pt x="225809" y="186742"/>
                  <a:pt x="227521" y="184658"/>
                </a:cubicBezTo>
                <a:cubicBezTo>
                  <a:pt x="230646" y="180826"/>
                  <a:pt x="233139" y="176473"/>
                  <a:pt x="234925" y="171859"/>
                </a:cubicBezTo>
                <a:cubicBezTo>
                  <a:pt x="235893" y="169329"/>
                  <a:pt x="234739" y="166539"/>
                  <a:pt x="232395" y="165199"/>
                </a:cubicBezTo>
                <a:cubicBezTo>
                  <a:pt x="224247" y="160511"/>
                  <a:pt x="224247" y="149014"/>
                  <a:pt x="232395" y="144289"/>
                </a:cubicBezTo>
                <a:close/>
                <a:moveTo>
                  <a:pt x="175617" y="154781"/>
                </a:moveTo>
                <a:cubicBezTo>
                  <a:pt x="175617" y="146567"/>
                  <a:pt x="182286" y="139898"/>
                  <a:pt x="190500" y="139898"/>
                </a:cubicBezTo>
                <a:cubicBezTo>
                  <a:pt x="198714" y="139898"/>
                  <a:pt x="205383" y="146567"/>
                  <a:pt x="205383" y="154781"/>
                </a:cubicBezTo>
                <a:cubicBezTo>
                  <a:pt x="205383" y="162995"/>
                  <a:pt x="198714" y="169664"/>
                  <a:pt x="190500" y="169664"/>
                </a:cubicBezTo>
                <a:cubicBezTo>
                  <a:pt x="182286" y="169664"/>
                  <a:pt x="175617" y="162995"/>
                  <a:pt x="175617" y="15478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8928050" y="180975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Management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5125" y="236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8623250" y="23241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user attributes (PGY, specialties)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5125" y="2667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623250" y="26289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5125" y="2971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8623250" y="293370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Time-off request management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5125" y="3276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8623250" y="32385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Multi-organization support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3943350"/>
            <a:ext cx="3686175" cy="2533650"/>
          </a:xfrm>
          <a:custGeom>
            <a:avLst/>
            <a:gdLst/>
            <a:ahLst/>
            <a:cxnLst/>
            <a:rect l="l" t="t" r="r" b="b"/>
            <a:pathLst>
              <a:path w="3686175" h="2533650">
                <a:moveTo>
                  <a:pt x="114293" y="0"/>
                </a:moveTo>
                <a:lnTo>
                  <a:pt x="3571882" y="0"/>
                </a:lnTo>
                <a:cubicBezTo>
                  <a:pt x="3635004" y="0"/>
                  <a:pt x="3686175" y="51171"/>
                  <a:pt x="3686175" y="114293"/>
                </a:cubicBezTo>
                <a:lnTo>
                  <a:pt x="3686175" y="2419357"/>
                </a:lnTo>
                <a:cubicBezTo>
                  <a:pt x="3686175" y="2482479"/>
                  <a:pt x="3635004" y="2533650"/>
                  <a:pt x="3571882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9600" y="4171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42950" y="4305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1181100" y="42672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UX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175" y="4819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876300" y="478155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web-based interface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175" y="5124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876300" y="508635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Mobile-responsive design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175" y="5429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876300" y="539115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 &amp; notifications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175" y="5734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1" name="Text 49"/>
          <p:cNvSpPr/>
          <p:nvPr/>
        </p:nvSpPr>
        <p:spPr>
          <a:xfrm>
            <a:off x="876300" y="56959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filtering &amp; search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254475" y="3943350"/>
            <a:ext cx="3686175" cy="2533650"/>
          </a:xfrm>
          <a:custGeom>
            <a:avLst/>
            <a:gdLst/>
            <a:ahLst/>
            <a:cxnLst/>
            <a:rect l="l" t="t" r="r" b="b"/>
            <a:pathLst>
              <a:path w="3686175" h="2533650">
                <a:moveTo>
                  <a:pt x="114293" y="0"/>
                </a:moveTo>
                <a:lnTo>
                  <a:pt x="3571882" y="0"/>
                </a:lnTo>
                <a:cubicBezTo>
                  <a:pt x="3635004" y="0"/>
                  <a:pt x="3686175" y="51171"/>
                  <a:pt x="3686175" y="114293"/>
                </a:cubicBezTo>
                <a:lnTo>
                  <a:pt x="3686175" y="2419357"/>
                </a:lnTo>
                <a:cubicBezTo>
                  <a:pt x="3686175" y="2482479"/>
                  <a:pt x="3635004" y="2533650"/>
                  <a:pt x="3571882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483075" y="4171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640238" y="43053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5" name="Text 53"/>
          <p:cNvSpPr/>
          <p:nvPr/>
        </p:nvSpPr>
        <p:spPr>
          <a:xfrm>
            <a:off x="5054575" y="42672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Features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11650" y="4819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7" name="Text 55"/>
          <p:cNvSpPr/>
          <p:nvPr/>
        </p:nvSpPr>
        <p:spPr>
          <a:xfrm>
            <a:off x="4749775" y="478155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SaaS architecture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11650" y="5124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9" name="Text 57"/>
          <p:cNvSpPr/>
          <p:nvPr/>
        </p:nvSpPr>
        <p:spPr>
          <a:xfrm>
            <a:off x="4749775" y="508635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Auth0 secure authentication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11650" y="5429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1" name="Text 59"/>
          <p:cNvSpPr/>
          <p:nvPr/>
        </p:nvSpPr>
        <p:spPr>
          <a:xfrm>
            <a:off x="4749775" y="539115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trails &amp; data integrity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511650" y="5734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3" name="Text 61"/>
          <p:cNvSpPr/>
          <p:nvPr/>
        </p:nvSpPr>
        <p:spPr>
          <a:xfrm>
            <a:off x="4749775" y="56959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API-first for integrations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27950" y="3943350"/>
            <a:ext cx="3686175" cy="2533650"/>
          </a:xfrm>
          <a:custGeom>
            <a:avLst/>
            <a:gdLst/>
            <a:ahLst/>
            <a:cxnLst/>
            <a:rect l="l" t="t" r="r" b="b"/>
            <a:pathLst>
              <a:path w="3686175" h="2533650">
                <a:moveTo>
                  <a:pt x="114293" y="0"/>
                </a:moveTo>
                <a:lnTo>
                  <a:pt x="3571882" y="0"/>
                </a:lnTo>
                <a:cubicBezTo>
                  <a:pt x="3635004" y="0"/>
                  <a:pt x="3686175" y="51171"/>
                  <a:pt x="3686175" y="114293"/>
                </a:cubicBezTo>
                <a:lnTo>
                  <a:pt x="3686175" y="2419357"/>
                </a:lnTo>
                <a:cubicBezTo>
                  <a:pt x="3686175" y="2482479"/>
                  <a:pt x="3635004" y="2533650"/>
                  <a:pt x="3571882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0D1B2A"/>
              </a:gs>
              <a:gs pos="100000">
                <a:srgbClr val="415A77"/>
              </a:gs>
            </a:gsLst>
            <a:lin ang="2700000" scaled="1"/>
          </a:gradFill>
          <a:ln/>
        </p:spPr>
      </p:sp>
      <p:sp>
        <p:nvSpPr>
          <p:cNvPr id="65" name="Shape 63"/>
          <p:cNvSpPr/>
          <p:nvPr/>
        </p:nvSpPr>
        <p:spPr>
          <a:xfrm>
            <a:off x="9776520" y="420052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41637" y="804"/>
                </a:moveTo>
                <a:cubicBezTo>
                  <a:pt x="230252" y="-2478"/>
                  <a:pt x="218398" y="4152"/>
                  <a:pt x="215116" y="15538"/>
                </a:cubicBezTo>
                <a:lnTo>
                  <a:pt x="129391" y="315575"/>
                </a:lnTo>
                <a:cubicBezTo>
                  <a:pt x="126110" y="326961"/>
                  <a:pt x="132740" y="338815"/>
                  <a:pt x="144125" y="342096"/>
                </a:cubicBezTo>
                <a:cubicBezTo>
                  <a:pt x="155511" y="345378"/>
                  <a:pt x="167365" y="338748"/>
                  <a:pt x="170646" y="327362"/>
                </a:cubicBezTo>
                <a:lnTo>
                  <a:pt x="256371" y="27325"/>
                </a:lnTo>
                <a:cubicBezTo>
                  <a:pt x="259653" y="15939"/>
                  <a:pt x="253023" y="4085"/>
                  <a:pt x="241637" y="804"/>
                </a:cubicBezTo>
                <a:close/>
                <a:moveTo>
                  <a:pt x="284902" y="91953"/>
                </a:moveTo>
                <a:cubicBezTo>
                  <a:pt x="276530" y="100325"/>
                  <a:pt x="276530" y="113920"/>
                  <a:pt x="284902" y="122292"/>
                </a:cubicBezTo>
                <a:lnTo>
                  <a:pt x="334060" y="171450"/>
                </a:lnTo>
                <a:lnTo>
                  <a:pt x="284902" y="220608"/>
                </a:lnTo>
                <a:cubicBezTo>
                  <a:pt x="276530" y="228980"/>
                  <a:pt x="276530" y="242575"/>
                  <a:pt x="284902" y="250947"/>
                </a:cubicBezTo>
                <a:cubicBezTo>
                  <a:pt x="293273" y="259318"/>
                  <a:pt x="306869" y="259318"/>
                  <a:pt x="315240" y="250947"/>
                </a:cubicBezTo>
                <a:lnTo>
                  <a:pt x="379534" y="186653"/>
                </a:lnTo>
                <a:cubicBezTo>
                  <a:pt x="387906" y="178281"/>
                  <a:pt x="387906" y="164686"/>
                  <a:pt x="379534" y="156314"/>
                </a:cubicBezTo>
                <a:lnTo>
                  <a:pt x="315240" y="92020"/>
                </a:lnTo>
                <a:cubicBezTo>
                  <a:pt x="306869" y="83649"/>
                  <a:pt x="293273" y="83649"/>
                  <a:pt x="284902" y="92020"/>
                </a:cubicBezTo>
                <a:close/>
                <a:moveTo>
                  <a:pt x="100928" y="91953"/>
                </a:moveTo>
                <a:cubicBezTo>
                  <a:pt x="92556" y="83582"/>
                  <a:pt x="78961" y="83582"/>
                  <a:pt x="70589" y="91953"/>
                </a:cubicBezTo>
                <a:lnTo>
                  <a:pt x="6295" y="156247"/>
                </a:lnTo>
                <a:cubicBezTo>
                  <a:pt x="-2076" y="164619"/>
                  <a:pt x="-2076" y="178214"/>
                  <a:pt x="6295" y="186586"/>
                </a:cubicBezTo>
                <a:lnTo>
                  <a:pt x="70589" y="250880"/>
                </a:lnTo>
                <a:cubicBezTo>
                  <a:pt x="78961" y="259251"/>
                  <a:pt x="92556" y="259251"/>
                  <a:pt x="100928" y="250880"/>
                </a:cubicBezTo>
                <a:cubicBezTo>
                  <a:pt x="109299" y="242508"/>
                  <a:pt x="109299" y="228913"/>
                  <a:pt x="100928" y="220541"/>
                </a:cubicBezTo>
                <a:lnTo>
                  <a:pt x="51770" y="171450"/>
                </a:lnTo>
                <a:lnTo>
                  <a:pt x="100861" y="122292"/>
                </a:lnTo>
                <a:cubicBezTo>
                  <a:pt x="109232" y="113920"/>
                  <a:pt x="109232" y="100325"/>
                  <a:pt x="100861" y="9195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6" name="Text 64"/>
          <p:cNvSpPr/>
          <p:nvPr/>
        </p:nvSpPr>
        <p:spPr>
          <a:xfrm>
            <a:off x="9168408" y="469582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896796" y="5076825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FastAPI + PostgreSQL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896796" y="5381625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18 + TypeScript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896796" y="5686425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Auth0 Enterprise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896796" y="5991225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Scalable SaaS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4224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spc="57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49759"/>
            <a:ext cx="11686632" cy="541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11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$731M+ Market Opportunity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371713"/>
            <a:ext cx="5631242" cy="3104403"/>
          </a:xfrm>
          <a:custGeom>
            <a:avLst/>
            <a:gdLst/>
            <a:ahLst/>
            <a:cxnLst/>
            <a:rect l="l" t="t" r="r" b="b"/>
            <a:pathLst>
              <a:path w="5631242" h="3104403">
                <a:moveTo>
                  <a:pt x="108282" y="0"/>
                </a:moveTo>
                <a:lnTo>
                  <a:pt x="5522960" y="0"/>
                </a:lnTo>
                <a:cubicBezTo>
                  <a:pt x="5582763" y="0"/>
                  <a:pt x="5631242" y="48479"/>
                  <a:pt x="5631242" y="108282"/>
                </a:cubicBezTo>
                <a:lnTo>
                  <a:pt x="5631242" y="2996121"/>
                </a:lnTo>
                <a:cubicBezTo>
                  <a:pt x="5631242" y="3055923"/>
                  <a:pt x="5582763" y="3104403"/>
                  <a:pt x="5522960" y="3104403"/>
                </a:cubicBezTo>
                <a:lnTo>
                  <a:pt x="108282" y="3104403"/>
                </a:lnTo>
                <a:cubicBezTo>
                  <a:pt x="48519" y="3104403"/>
                  <a:pt x="0" y="3055883"/>
                  <a:pt x="0" y="2996121"/>
                </a:cubicBezTo>
                <a:lnTo>
                  <a:pt x="0" y="108282"/>
                </a:lnTo>
                <a:cubicBezTo>
                  <a:pt x="0" y="48519"/>
                  <a:pt x="48519" y="0"/>
                  <a:pt x="1082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147" dist="36098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1466" y="1552201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Size &amp; Growth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1466" y="1949276"/>
            <a:ext cx="5270265" cy="505368"/>
          </a:xfrm>
          <a:custGeom>
            <a:avLst/>
            <a:gdLst/>
            <a:ahLst/>
            <a:cxnLst/>
            <a:rect l="l" t="t" r="r" b="b"/>
            <a:pathLst>
              <a:path w="5270265" h="505368">
                <a:moveTo>
                  <a:pt x="72197" y="0"/>
                </a:moveTo>
                <a:lnTo>
                  <a:pt x="5198068" y="0"/>
                </a:lnTo>
                <a:cubicBezTo>
                  <a:pt x="5237941" y="0"/>
                  <a:pt x="5270265" y="32324"/>
                  <a:pt x="5270265" y="72197"/>
                </a:cubicBezTo>
                <a:lnTo>
                  <a:pt x="5270265" y="433171"/>
                </a:lnTo>
                <a:cubicBezTo>
                  <a:pt x="5270265" y="473044"/>
                  <a:pt x="5237941" y="505368"/>
                  <a:pt x="5198068" y="505368"/>
                </a:cubicBezTo>
                <a:lnTo>
                  <a:pt x="72197" y="505368"/>
                </a:lnTo>
                <a:cubicBezTo>
                  <a:pt x="32324" y="505368"/>
                  <a:pt x="0" y="473044"/>
                  <a:pt x="0" y="433171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49759" y="2093667"/>
            <a:ext cx="124537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 Market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1201" y="2057569"/>
            <a:ext cx="830247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$350M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466" y="2562937"/>
            <a:ext cx="5270265" cy="505368"/>
          </a:xfrm>
          <a:custGeom>
            <a:avLst/>
            <a:gdLst/>
            <a:ahLst/>
            <a:cxnLst/>
            <a:rect l="l" t="t" r="r" b="b"/>
            <a:pathLst>
              <a:path w="5270265" h="505368">
                <a:moveTo>
                  <a:pt x="72197" y="0"/>
                </a:moveTo>
                <a:lnTo>
                  <a:pt x="5198068" y="0"/>
                </a:lnTo>
                <a:cubicBezTo>
                  <a:pt x="5237941" y="0"/>
                  <a:pt x="5270265" y="32324"/>
                  <a:pt x="5270265" y="72197"/>
                </a:cubicBezTo>
                <a:lnTo>
                  <a:pt x="5270265" y="433171"/>
                </a:lnTo>
                <a:cubicBezTo>
                  <a:pt x="5270265" y="473044"/>
                  <a:pt x="5237941" y="505368"/>
                  <a:pt x="5198068" y="505368"/>
                </a:cubicBezTo>
                <a:lnTo>
                  <a:pt x="72197" y="505368"/>
                </a:lnTo>
                <a:cubicBezTo>
                  <a:pt x="32324" y="505368"/>
                  <a:pt x="0" y="473044"/>
                  <a:pt x="0" y="433171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49759" y="2707328"/>
            <a:ext cx="107390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2030 Projection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6558" y="2671230"/>
            <a:ext cx="758052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$731M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466" y="3176598"/>
            <a:ext cx="5270265" cy="505368"/>
          </a:xfrm>
          <a:custGeom>
            <a:avLst/>
            <a:gdLst/>
            <a:ahLst/>
            <a:cxnLst/>
            <a:rect l="l" t="t" r="r" b="b"/>
            <a:pathLst>
              <a:path w="5270265" h="505368">
                <a:moveTo>
                  <a:pt x="72197" y="0"/>
                </a:moveTo>
                <a:lnTo>
                  <a:pt x="5198068" y="0"/>
                </a:lnTo>
                <a:cubicBezTo>
                  <a:pt x="5237941" y="0"/>
                  <a:pt x="5270265" y="32324"/>
                  <a:pt x="5270265" y="72197"/>
                </a:cubicBezTo>
                <a:lnTo>
                  <a:pt x="5270265" y="433171"/>
                </a:lnTo>
                <a:cubicBezTo>
                  <a:pt x="5270265" y="473044"/>
                  <a:pt x="5237941" y="505368"/>
                  <a:pt x="5198068" y="505368"/>
                </a:cubicBezTo>
                <a:lnTo>
                  <a:pt x="72197" y="505368"/>
                </a:lnTo>
                <a:cubicBezTo>
                  <a:pt x="32324" y="505368"/>
                  <a:pt x="0" y="473044"/>
                  <a:pt x="0" y="433171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759" y="3320989"/>
            <a:ext cx="129049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CAGR (2024-2030)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76778" y="3284891"/>
            <a:ext cx="631710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13.1%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466" y="3790259"/>
            <a:ext cx="5270265" cy="505368"/>
          </a:xfrm>
          <a:custGeom>
            <a:avLst/>
            <a:gdLst/>
            <a:ahLst/>
            <a:cxnLst/>
            <a:rect l="l" t="t" r="r" b="b"/>
            <a:pathLst>
              <a:path w="5270265" h="505368">
                <a:moveTo>
                  <a:pt x="72197" y="0"/>
                </a:moveTo>
                <a:lnTo>
                  <a:pt x="5198068" y="0"/>
                </a:lnTo>
                <a:cubicBezTo>
                  <a:pt x="5237941" y="0"/>
                  <a:pt x="5270265" y="32324"/>
                  <a:pt x="5270265" y="72197"/>
                </a:cubicBezTo>
                <a:lnTo>
                  <a:pt x="5270265" y="433171"/>
                </a:lnTo>
                <a:cubicBezTo>
                  <a:pt x="5270265" y="473044"/>
                  <a:pt x="5237941" y="505368"/>
                  <a:pt x="5198068" y="505368"/>
                </a:cubicBezTo>
                <a:lnTo>
                  <a:pt x="72197" y="505368"/>
                </a:lnTo>
                <a:cubicBezTo>
                  <a:pt x="32324" y="505368"/>
                  <a:pt x="0" y="473044"/>
                  <a:pt x="0" y="433171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759" y="3934650"/>
            <a:ext cx="105585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Adoption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68573" y="3898552"/>
            <a:ext cx="541466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69%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0977" y="4620506"/>
            <a:ext cx="5631242" cy="2256107"/>
          </a:xfrm>
          <a:custGeom>
            <a:avLst/>
            <a:gdLst/>
            <a:ahLst/>
            <a:cxnLst/>
            <a:rect l="l" t="t" r="r" b="b"/>
            <a:pathLst>
              <a:path w="5631242" h="2256107">
                <a:moveTo>
                  <a:pt x="108293" y="0"/>
                </a:moveTo>
                <a:lnTo>
                  <a:pt x="5522949" y="0"/>
                </a:lnTo>
                <a:cubicBezTo>
                  <a:pt x="5582758" y="0"/>
                  <a:pt x="5631242" y="48484"/>
                  <a:pt x="5631242" y="108293"/>
                </a:cubicBezTo>
                <a:lnTo>
                  <a:pt x="5631242" y="2147813"/>
                </a:lnTo>
                <a:cubicBezTo>
                  <a:pt x="5631242" y="2207622"/>
                  <a:pt x="5582758" y="2256107"/>
                  <a:pt x="5522949" y="2256107"/>
                </a:cubicBezTo>
                <a:lnTo>
                  <a:pt x="108293" y="2256107"/>
                </a:lnTo>
                <a:cubicBezTo>
                  <a:pt x="48484" y="2256107"/>
                  <a:pt x="0" y="2207622"/>
                  <a:pt x="0" y="2147813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147" dist="36098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1466" y="4800995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Segments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1466" y="5161972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9452" y="5216118"/>
            <a:ext cx="14439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0736" y="5161972"/>
            <a:ext cx="398879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Residency Programs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0736" y="5378558"/>
            <a:ext cx="398879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13,762 ACGME-accredited programs, 167,000+ active residents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1466" y="5703437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4717" y="5757584"/>
            <a:ext cx="171464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0736" y="5703437"/>
            <a:ext cx="327586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Nursing Departments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0736" y="5920024"/>
            <a:ext cx="327586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hospital, clinic, and health system nationwide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1466" y="624490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4012" y="6299050"/>
            <a:ext cx="18048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0736" y="6244903"/>
            <a:ext cx="274342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Workforce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0736" y="6461489"/>
            <a:ext cx="274342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20M+ workers in the US healthcare system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4787" y="1371713"/>
            <a:ext cx="5631242" cy="5504900"/>
          </a:xfrm>
          <a:custGeom>
            <a:avLst/>
            <a:gdLst/>
            <a:ahLst/>
            <a:cxnLst/>
            <a:rect l="l" t="t" r="r" b="b"/>
            <a:pathLst>
              <a:path w="5631242" h="5504900">
                <a:moveTo>
                  <a:pt x="108281" y="0"/>
                </a:moveTo>
                <a:lnTo>
                  <a:pt x="5522961" y="0"/>
                </a:lnTo>
                <a:cubicBezTo>
                  <a:pt x="5582763" y="0"/>
                  <a:pt x="5631242" y="48479"/>
                  <a:pt x="5631242" y="108281"/>
                </a:cubicBezTo>
                <a:lnTo>
                  <a:pt x="5631242" y="5396619"/>
                </a:lnTo>
                <a:cubicBezTo>
                  <a:pt x="5631242" y="5456421"/>
                  <a:pt x="5582763" y="5504900"/>
                  <a:pt x="5522961" y="5504900"/>
                </a:cubicBezTo>
                <a:lnTo>
                  <a:pt x="108281" y="5504900"/>
                </a:lnTo>
                <a:cubicBezTo>
                  <a:pt x="48479" y="5504900"/>
                  <a:pt x="0" y="5456421"/>
                  <a:pt x="0" y="5396619"/>
                </a:cubicBezTo>
                <a:lnTo>
                  <a:pt x="0" y="108281"/>
                </a:lnTo>
                <a:cubicBezTo>
                  <a:pt x="0" y="48479"/>
                  <a:pt x="48479" y="0"/>
                  <a:pt x="1082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147" dist="36098" dir="540000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85275" y="1552201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Growth Trajectory</a:t>
            </a:r>
            <a:endParaRPr lang="en-US" sz="1600" dirty="0"/>
          </a:p>
        </p:txBody>
      </p:sp>
      <p:pic>
        <p:nvPicPr>
          <p:cNvPr id="34" name="Image 0" descr="https://kimi-img.moonshot.cn/pub/slides/26-02-03-11:19:28-d60mig2vqs8diva23ej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85275" y="1913178"/>
            <a:ext cx="4945386" cy="4764897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Advantage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66850"/>
            <a:ext cx="5619750" cy="2400300"/>
          </a:xfrm>
          <a:custGeom>
            <a:avLst/>
            <a:gdLst/>
            <a:ahLst/>
            <a:cxnLst/>
            <a:rect l="l" t="t" r="r" b="b"/>
            <a:pathLst>
              <a:path w="5619750" h="24003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285998"/>
                </a:lnTo>
                <a:cubicBezTo>
                  <a:pt x="5619750" y="2349083"/>
                  <a:pt x="5568533" y="2400300"/>
                  <a:pt x="550544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4668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1809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77165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New Innovations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055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" y="2247900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Superior scheduling + tracking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one platform, not just logging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" y="259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" y="25527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interface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vs. data entry forms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2857500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compliance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vs. post-hoc reporting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320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" y="31623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UX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vs. legacy interface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466850"/>
            <a:ext cx="5619750" cy="2400300"/>
          </a:xfrm>
          <a:custGeom>
            <a:avLst/>
            <a:gdLst/>
            <a:ahLst/>
            <a:cxnLst/>
            <a:rect l="l" t="t" r="r" b="b"/>
            <a:pathLst>
              <a:path w="5619750" h="24003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285998"/>
                </a:lnTo>
                <a:cubicBezTo>
                  <a:pt x="5619750" y="2349083"/>
                  <a:pt x="5568533" y="2400300"/>
                  <a:pt x="550544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1250" y="14668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9" name="Shape 17"/>
          <p:cNvSpPr/>
          <p:nvPr/>
        </p:nvSpPr>
        <p:spPr>
          <a:xfrm>
            <a:off x="638175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15A77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27006" y="1809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1" name="Text 19"/>
          <p:cNvSpPr/>
          <p:nvPr/>
        </p:nvSpPr>
        <p:spPr>
          <a:xfrm>
            <a:off x="6953250" y="177165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Legacy Systems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648450" y="22479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UX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intuitive design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59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648450" y="2552700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architecture, no on-premise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648450" y="28575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notifications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320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648450" y="3162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API-first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seamless integrations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4076700"/>
            <a:ext cx="5619750" cy="2400300"/>
          </a:xfrm>
          <a:custGeom>
            <a:avLst/>
            <a:gdLst/>
            <a:ahLst/>
            <a:cxnLst/>
            <a:rect l="l" t="t" r="r" b="b"/>
            <a:pathLst>
              <a:path w="5619750" h="24003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285998"/>
                </a:lnTo>
                <a:cubicBezTo>
                  <a:pt x="5619750" y="2349083"/>
                  <a:pt x="5568533" y="2400300"/>
                  <a:pt x="550544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1000" y="40767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" y="4286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6756" y="44196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43815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Generic Scheduling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0550" y="4895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838200" y="4857750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Healthcare-native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block scheduling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0550" y="5200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838200" y="51625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ACGME compliance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built-in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0550" y="5505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838200" y="546735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Rotation management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medical education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0550" y="5810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838200" y="577215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workflows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 of the box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1250" y="4057650"/>
            <a:ext cx="5619750" cy="2419350"/>
          </a:xfrm>
          <a:custGeom>
            <a:avLst/>
            <a:gdLst/>
            <a:ahLst/>
            <a:cxnLst/>
            <a:rect l="l" t="t" r="r" b="b"/>
            <a:pathLst>
              <a:path w="5619750" h="2419350">
                <a:moveTo>
                  <a:pt x="114290" y="0"/>
                </a:moveTo>
                <a:lnTo>
                  <a:pt x="5505460" y="0"/>
                </a:lnTo>
                <a:cubicBezTo>
                  <a:pt x="5568581" y="0"/>
                  <a:pt x="5619750" y="51169"/>
                  <a:pt x="5619750" y="114290"/>
                </a:cubicBezTo>
                <a:lnTo>
                  <a:pt x="5619750" y="2305060"/>
                </a:lnTo>
                <a:cubicBezTo>
                  <a:pt x="5619750" y="2368181"/>
                  <a:pt x="5568581" y="2419350"/>
                  <a:pt x="5505460" y="2419350"/>
                </a:cubicBezTo>
                <a:lnTo>
                  <a:pt x="114290" y="2419350"/>
                </a:lnTo>
                <a:cubicBezTo>
                  <a:pt x="51169" y="2419350"/>
                  <a:pt x="0" y="2368181"/>
                  <a:pt x="0" y="2305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0D1B2A"/>
              </a:gs>
              <a:gs pos="100000">
                <a:srgbClr val="415A77"/>
              </a:gs>
            </a:gsLst>
            <a:lin ang="270000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6381750" y="424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15100" y="438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6953250" y="43434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Moat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0800" y="4857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6648450" y="481965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+ React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modern stack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0" y="5162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6648450" y="512445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SaaS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0800" y="546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6648450" y="542925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API-first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extensible design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0800" y="5772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4" name="Text 52"/>
          <p:cNvSpPr/>
          <p:nvPr/>
        </p:nvSpPr>
        <p:spPr>
          <a:xfrm>
            <a:off x="6648450" y="573405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security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Auth0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Three-Phase Expansion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3667125" cy="5029200"/>
          </a:xfrm>
          <a:custGeom>
            <a:avLst/>
            <a:gdLst/>
            <a:ahLst/>
            <a:cxnLst/>
            <a:rect l="l" t="t" r="r" b="b"/>
            <a:pathLst>
              <a:path w="3667125" h="5029200">
                <a:moveTo>
                  <a:pt x="38100" y="0"/>
                </a:moveTo>
                <a:lnTo>
                  <a:pt x="3552821" y="0"/>
                </a:lnTo>
                <a:cubicBezTo>
                  <a:pt x="3615949" y="0"/>
                  <a:pt x="3667125" y="51176"/>
                  <a:pt x="3667125" y="114304"/>
                </a:cubicBezTo>
                <a:lnTo>
                  <a:pt x="3667125" y="4914896"/>
                </a:lnTo>
                <a:cubicBezTo>
                  <a:pt x="3667125" y="4978024"/>
                  <a:pt x="3615949" y="5029200"/>
                  <a:pt x="3552821" y="5029200"/>
                </a:cubicBez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447800"/>
            <a:ext cx="38100" cy="5029200"/>
          </a:xfrm>
          <a:custGeom>
            <a:avLst/>
            <a:gdLst/>
            <a:ahLst/>
            <a:cxnLst/>
            <a:rect l="l" t="t" r="r" b="b"/>
            <a:pathLst>
              <a:path w="38100" h="5029200">
                <a:moveTo>
                  <a:pt x="38100" y="0"/>
                </a:moveTo>
                <a:lnTo>
                  <a:pt x="38100" y="0"/>
                </a:lnTo>
                <a:lnTo>
                  <a:pt x="38100" y="5029200"/>
                </a:ln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52450" y="16383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16764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Residency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94310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Focus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324100"/>
            <a:ext cx="3267075" cy="952500"/>
          </a:xfrm>
          <a:custGeom>
            <a:avLst/>
            <a:gdLst/>
            <a:ahLst/>
            <a:cxnLst/>
            <a:rect l="l" t="t" r="r" b="b"/>
            <a:pathLst>
              <a:path w="3267075" h="9525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876300"/>
                </a:lnTo>
                <a:cubicBezTo>
                  <a:pt x="3267075" y="918356"/>
                  <a:pt x="3232931" y="952500"/>
                  <a:pt x="31908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24384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2705100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13,762 ACGME-accredited programs with 167,000+ active residents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3390900"/>
            <a:ext cx="3267075" cy="1257300"/>
          </a:xfrm>
          <a:custGeom>
            <a:avLst/>
            <a:gdLst/>
            <a:ahLst/>
            <a:cxnLst/>
            <a:rect l="l" t="t" r="r" b="b"/>
            <a:pathLst>
              <a:path w="3267075" h="1257300">
                <a:moveTo>
                  <a:pt x="76205" y="0"/>
                </a:moveTo>
                <a:lnTo>
                  <a:pt x="3190870" y="0"/>
                </a:lnTo>
                <a:cubicBezTo>
                  <a:pt x="3232957" y="0"/>
                  <a:pt x="3267075" y="34118"/>
                  <a:pt x="3267075" y="76205"/>
                </a:cubicBezTo>
                <a:lnTo>
                  <a:pt x="3267075" y="1181095"/>
                </a:lnTo>
                <a:cubicBezTo>
                  <a:pt x="3267075" y="1223182"/>
                  <a:pt x="3232957" y="1257300"/>
                  <a:pt x="31908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" y="35052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1284" y="3810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966788" y="37719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ACGME-compliant scheduling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1284" y="4076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966788" y="40386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rotation management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1284" y="4343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966788" y="430530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Duty hours tracking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4762500"/>
            <a:ext cx="3267075" cy="952500"/>
          </a:xfrm>
          <a:custGeom>
            <a:avLst/>
            <a:gdLst/>
            <a:ahLst/>
            <a:cxnLst/>
            <a:rect l="l" t="t" r="r" b="b"/>
            <a:pathLst>
              <a:path w="3267075" h="9525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876300"/>
                </a:lnTo>
                <a:cubicBezTo>
                  <a:pt x="3267075" y="918356"/>
                  <a:pt x="3232931" y="952500"/>
                  <a:pt x="31908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723900" y="48768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3900" y="5143500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product-market fit and establish brand recognition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3525" y="1447800"/>
            <a:ext cx="3667125" cy="5029200"/>
          </a:xfrm>
          <a:custGeom>
            <a:avLst/>
            <a:gdLst/>
            <a:ahLst/>
            <a:cxnLst/>
            <a:rect l="l" t="t" r="r" b="b"/>
            <a:pathLst>
              <a:path w="3667125" h="5029200">
                <a:moveTo>
                  <a:pt x="38100" y="0"/>
                </a:moveTo>
                <a:lnTo>
                  <a:pt x="3552821" y="0"/>
                </a:lnTo>
                <a:cubicBezTo>
                  <a:pt x="3615949" y="0"/>
                  <a:pt x="3667125" y="51176"/>
                  <a:pt x="3667125" y="114304"/>
                </a:cubicBezTo>
                <a:lnTo>
                  <a:pt x="3667125" y="4914896"/>
                </a:lnTo>
                <a:cubicBezTo>
                  <a:pt x="3667125" y="4978024"/>
                  <a:pt x="3615949" y="5029200"/>
                  <a:pt x="3552821" y="5029200"/>
                </a:cubicBez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73525" y="1447800"/>
            <a:ext cx="38100" cy="5029200"/>
          </a:xfrm>
          <a:custGeom>
            <a:avLst/>
            <a:gdLst/>
            <a:ahLst/>
            <a:cxnLst/>
            <a:rect l="l" t="t" r="r" b="b"/>
            <a:pathLst>
              <a:path w="38100" h="5029200">
                <a:moveTo>
                  <a:pt x="38100" y="0"/>
                </a:moveTo>
                <a:lnTo>
                  <a:pt x="38100" y="0"/>
                </a:lnTo>
                <a:lnTo>
                  <a:pt x="38100" y="5029200"/>
                </a:ln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3075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7" name="Text 25"/>
          <p:cNvSpPr/>
          <p:nvPr/>
        </p:nvSpPr>
        <p:spPr>
          <a:xfrm>
            <a:off x="4425925" y="16383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0775" y="16764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Nursing Departments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30775" y="194310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Near-Term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83075" y="2324100"/>
            <a:ext cx="3267075" cy="952500"/>
          </a:xfrm>
          <a:custGeom>
            <a:avLst/>
            <a:gdLst/>
            <a:ahLst/>
            <a:cxnLst/>
            <a:rect l="l" t="t" r="r" b="b"/>
            <a:pathLst>
              <a:path w="3267075" h="9525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876300"/>
                </a:lnTo>
                <a:cubicBezTo>
                  <a:pt x="3267075" y="918356"/>
                  <a:pt x="3232931" y="952500"/>
                  <a:pt x="31908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4597375" y="24384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97375" y="2705100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hospital, clinic, and health system with nursing staff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83075" y="3390900"/>
            <a:ext cx="3267075" cy="1257300"/>
          </a:xfrm>
          <a:custGeom>
            <a:avLst/>
            <a:gdLst/>
            <a:ahLst/>
            <a:cxnLst/>
            <a:rect l="l" t="t" r="r" b="b"/>
            <a:pathLst>
              <a:path w="3267075" h="1257300">
                <a:moveTo>
                  <a:pt x="76205" y="0"/>
                </a:moveTo>
                <a:lnTo>
                  <a:pt x="3190870" y="0"/>
                </a:lnTo>
                <a:cubicBezTo>
                  <a:pt x="3232957" y="0"/>
                  <a:pt x="3267075" y="34118"/>
                  <a:pt x="3267075" y="76205"/>
                </a:cubicBezTo>
                <a:lnTo>
                  <a:pt x="3267075" y="1181095"/>
                </a:lnTo>
                <a:cubicBezTo>
                  <a:pt x="3267075" y="1223182"/>
                  <a:pt x="3232957" y="1257300"/>
                  <a:pt x="31908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4597375" y="35052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624760" y="3810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4840263" y="377190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block rotations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24760" y="4076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4840263" y="40386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scheduling &amp; staffing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24760" y="4343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4840263" y="43053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Staffing ratio compliance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83075" y="4762500"/>
            <a:ext cx="3267075" cy="952500"/>
          </a:xfrm>
          <a:custGeom>
            <a:avLst/>
            <a:gdLst/>
            <a:ahLst/>
            <a:cxnLst/>
            <a:rect l="l" t="t" r="r" b="b"/>
            <a:pathLst>
              <a:path w="3267075" h="9525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876300"/>
                </a:lnTo>
                <a:cubicBezTo>
                  <a:pt x="3267075" y="918356"/>
                  <a:pt x="3232931" y="952500"/>
                  <a:pt x="31908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4597375" y="48768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97375" y="5143500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scheduling is universal in nursing—perfect fit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47000" y="1447800"/>
            <a:ext cx="3667125" cy="5029200"/>
          </a:xfrm>
          <a:custGeom>
            <a:avLst/>
            <a:gdLst/>
            <a:ahLst/>
            <a:cxnLst/>
            <a:rect l="l" t="t" r="r" b="b"/>
            <a:pathLst>
              <a:path w="3667125" h="5029200">
                <a:moveTo>
                  <a:pt x="38100" y="0"/>
                </a:moveTo>
                <a:lnTo>
                  <a:pt x="3552821" y="0"/>
                </a:lnTo>
                <a:cubicBezTo>
                  <a:pt x="3615949" y="0"/>
                  <a:pt x="3667125" y="51176"/>
                  <a:pt x="3667125" y="114304"/>
                </a:cubicBezTo>
                <a:lnTo>
                  <a:pt x="3667125" y="4914896"/>
                </a:lnTo>
                <a:cubicBezTo>
                  <a:pt x="3667125" y="4978024"/>
                  <a:pt x="3615949" y="5029200"/>
                  <a:pt x="3552821" y="5029200"/>
                </a:cubicBez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47000" y="1447800"/>
            <a:ext cx="38100" cy="5029200"/>
          </a:xfrm>
          <a:custGeom>
            <a:avLst/>
            <a:gdLst/>
            <a:ahLst/>
            <a:cxnLst/>
            <a:rect l="l" t="t" r="r" b="b"/>
            <a:pathLst>
              <a:path w="38100" h="5029200">
                <a:moveTo>
                  <a:pt x="38100" y="0"/>
                </a:moveTo>
                <a:lnTo>
                  <a:pt x="38100" y="0"/>
                </a:lnTo>
                <a:lnTo>
                  <a:pt x="38100" y="5029200"/>
                </a:ln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6" name="Shape 44"/>
          <p:cNvSpPr/>
          <p:nvPr/>
        </p:nvSpPr>
        <p:spPr>
          <a:xfrm>
            <a:off x="835655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8299400" y="16383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04250" y="1676400"/>
            <a:ext cx="232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Health Systems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04250" y="1943100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56550" y="2324100"/>
            <a:ext cx="3267075" cy="723900"/>
          </a:xfrm>
          <a:custGeom>
            <a:avLst/>
            <a:gdLst/>
            <a:ahLst/>
            <a:cxnLst/>
            <a:rect l="l" t="t" r="r" b="b"/>
            <a:pathLst>
              <a:path w="3267075" h="723900">
                <a:moveTo>
                  <a:pt x="76198" y="0"/>
                </a:moveTo>
                <a:lnTo>
                  <a:pt x="3190877" y="0"/>
                </a:lnTo>
                <a:cubicBezTo>
                  <a:pt x="3232932" y="0"/>
                  <a:pt x="3267075" y="34143"/>
                  <a:pt x="3267075" y="76198"/>
                </a:cubicBezTo>
                <a:lnTo>
                  <a:pt x="3267075" y="647702"/>
                </a:lnTo>
                <a:cubicBezTo>
                  <a:pt x="3267075" y="689757"/>
                  <a:pt x="3232932" y="723900"/>
                  <a:pt x="31908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1" name="Text 49"/>
          <p:cNvSpPr/>
          <p:nvPr/>
        </p:nvSpPr>
        <p:spPr>
          <a:xfrm>
            <a:off x="8470850" y="24384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70850" y="27051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Multi-facility health systems and IDNs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56550" y="3162300"/>
            <a:ext cx="3267075" cy="1257300"/>
          </a:xfrm>
          <a:custGeom>
            <a:avLst/>
            <a:gdLst/>
            <a:ahLst/>
            <a:cxnLst/>
            <a:rect l="l" t="t" r="r" b="b"/>
            <a:pathLst>
              <a:path w="3267075" h="1257300">
                <a:moveTo>
                  <a:pt x="76205" y="0"/>
                </a:moveTo>
                <a:lnTo>
                  <a:pt x="3190870" y="0"/>
                </a:lnTo>
                <a:cubicBezTo>
                  <a:pt x="3232957" y="0"/>
                  <a:pt x="3267075" y="34118"/>
                  <a:pt x="3267075" y="76205"/>
                </a:cubicBezTo>
                <a:lnTo>
                  <a:pt x="3267075" y="1181095"/>
                </a:lnTo>
                <a:cubicBezTo>
                  <a:pt x="3267075" y="1223182"/>
                  <a:pt x="3232957" y="1257300"/>
                  <a:pt x="31908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4" name="Text 52"/>
          <p:cNvSpPr/>
          <p:nvPr/>
        </p:nvSpPr>
        <p:spPr>
          <a:xfrm>
            <a:off x="8470850" y="32766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98235" y="3581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6" name="Text 54"/>
          <p:cNvSpPr/>
          <p:nvPr/>
        </p:nvSpPr>
        <p:spPr>
          <a:xfrm>
            <a:off x="8713738" y="35433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Multi-department scheduling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98235" y="3848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8713738" y="38100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Cross-functional workforce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98235" y="4114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0" name="Text 58"/>
          <p:cNvSpPr/>
          <p:nvPr/>
        </p:nvSpPr>
        <p:spPr>
          <a:xfrm>
            <a:off x="8713738" y="40767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System-wide analytics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56550" y="4533900"/>
            <a:ext cx="3267075" cy="952500"/>
          </a:xfrm>
          <a:custGeom>
            <a:avLst/>
            <a:gdLst/>
            <a:ahLst/>
            <a:cxnLst/>
            <a:rect l="l" t="t" r="r" b="b"/>
            <a:pathLst>
              <a:path w="3267075" h="9525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876300"/>
                </a:lnTo>
                <a:cubicBezTo>
                  <a:pt x="3267075" y="918356"/>
                  <a:pt x="3232931" y="952500"/>
                  <a:pt x="31908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2" name="Text 60"/>
          <p:cNvSpPr/>
          <p:nvPr/>
        </p:nvSpPr>
        <p:spPr>
          <a:xfrm>
            <a:off x="8470850" y="46482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70850" y="4914900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architecture enables single-platform deployment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47800"/>
            <a:ext cx="5619750" cy="2933700"/>
          </a:xfrm>
          <a:custGeom>
            <a:avLst/>
            <a:gdLst/>
            <a:ahLst/>
            <a:cxnLst/>
            <a:rect l="l" t="t" r="r" b="b"/>
            <a:pathLst>
              <a:path w="5619750" h="29337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819403"/>
                </a:lnTo>
                <a:cubicBezTo>
                  <a:pt x="5619750" y="2882528"/>
                  <a:pt x="5568578" y="2933700"/>
                  <a:pt x="5505453" y="2933700"/>
                </a:cubicBezTo>
                <a:lnTo>
                  <a:pt x="114297" y="2933700"/>
                </a:lnTo>
                <a:cubicBezTo>
                  <a:pt x="51172" y="2933700"/>
                  <a:pt x="0" y="2882528"/>
                  <a:pt x="0" y="28194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2944" y="1771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335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Tech 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2247900"/>
            <a:ext cx="2562225" cy="914400"/>
          </a:xfrm>
          <a:custGeom>
            <a:avLst/>
            <a:gdLst/>
            <a:ahLst/>
            <a:cxnLst/>
            <a:rect l="l" t="t" r="r" b="b"/>
            <a:pathLst>
              <a:path w="2562225" h="9144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838203"/>
                </a:lnTo>
                <a:cubicBezTo>
                  <a:pt x="2562225" y="880285"/>
                  <a:pt x="2528110" y="914400"/>
                  <a:pt x="24860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622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289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(Python)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57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async framework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8025" y="2247900"/>
            <a:ext cx="2562225" cy="914400"/>
          </a:xfrm>
          <a:custGeom>
            <a:avLst/>
            <a:gdLst/>
            <a:ahLst/>
            <a:cxnLst/>
            <a:rect l="l" t="t" r="r" b="b"/>
            <a:pathLst>
              <a:path w="2562225" h="9144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838203"/>
                </a:lnTo>
                <a:cubicBezTo>
                  <a:pt x="2562225" y="880285"/>
                  <a:pt x="2528110" y="914400"/>
                  <a:pt x="24860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62325" y="23622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2325" y="26289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18 + TypeScript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62325" y="2857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UI components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3276600"/>
            <a:ext cx="2562225" cy="914400"/>
          </a:xfrm>
          <a:custGeom>
            <a:avLst/>
            <a:gdLst/>
            <a:ahLst/>
            <a:cxnLst/>
            <a:rect l="l" t="t" r="r" b="b"/>
            <a:pathLst>
              <a:path w="2562225" h="9144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838203"/>
                </a:lnTo>
                <a:cubicBezTo>
                  <a:pt x="2562225" y="880285"/>
                  <a:pt x="2528110" y="914400"/>
                  <a:pt x="24860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909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relational DB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48025" y="3276600"/>
            <a:ext cx="2562225" cy="914400"/>
          </a:xfrm>
          <a:custGeom>
            <a:avLst/>
            <a:gdLst/>
            <a:ahLst/>
            <a:cxnLst/>
            <a:rect l="l" t="t" r="r" b="b"/>
            <a:pathLst>
              <a:path w="2562225" h="9144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838203"/>
                </a:lnTo>
                <a:cubicBezTo>
                  <a:pt x="2562225" y="880285"/>
                  <a:pt x="2528110" y="914400"/>
                  <a:pt x="24860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3362325" y="33909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62325" y="36576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Auth0 Enterprise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62325" y="3886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45339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19303"/>
                </a:lnTo>
                <a:cubicBezTo>
                  <a:pt x="5619750" y="2082428"/>
                  <a:pt x="5568578" y="2133600"/>
                  <a:pt x="550545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1500" y="472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2944" y="4857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8196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SaaS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0075" y="5372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38200" y="5334000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architecture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organization-based isolation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0075" y="5676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838200" y="5638800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cloud infrastructure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enterprise workloads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0075" y="598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838200" y="594360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updates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zero downtime deployments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00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38200" y="6248400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 scaling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handle peak usage periods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1250" y="14478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19303"/>
                </a:lnTo>
                <a:cubicBezTo>
                  <a:pt x="5619750" y="2082428"/>
                  <a:pt x="5568578" y="2133600"/>
                  <a:pt x="550545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0D1B2A"/>
              </a:gs>
              <a:gs pos="100000">
                <a:srgbClr val="415A77"/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638175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15100" y="177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6953250" y="17335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6648450" y="22479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Auth0 integration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enterprise SSO support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259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6648450" y="2552700"/>
            <a:ext cx="421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(RBAC) for fine-grained permissions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6648450" y="285750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compliance and data integrity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0" y="320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6648450" y="3162300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HIPAA-compliant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handling and storage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1250" y="37338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19303"/>
                </a:lnTo>
                <a:cubicBezTo>
                  <a:pt x="5619750" y="2082428"/>
                  <a:pt x="5568578" y="2133600"/>
                  <a:pt x="550545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81750" y="3924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27006" y="4057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1" name="Text 49"/>
          <p:cNvSpPr/>
          <p:nvPr/>
        </p:nvSpPr>
        <p:spPr>
          <a:xfrm>
            <a:off x="6953250" y="401955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API-First Design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10325" y="4572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3" name="Text 51"/>
          <p:cNvSpPr/>
          <p:nvPr/>
        </p:nvSpPr>
        <p:spPr>
          <a:xfrm>
            <a:off x="6648450" y="4533900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seamless EHR integrations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0325" y="4876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5" name="Text 53"/>
          <p:cNvSpPr/>
          <p:nvPr/>
        </p:nvSpPr>
        <p:spPr>
          <a:xfrm>
            <a:off x="6648450" y="483870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 architecture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custom workflows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10325" y="5181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7" name="Text 55"/>
          <p:cNvSpPr/>
          <p:nvPr/>
        </p:nvSpPr>
        <p:spPr>
          <a:xfrm>
            <a:off x="6648450" y="514350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Webhook support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real-time notifications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10325" y="5486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9" name="Text 57"/>
          <p:cNvSpPr/>
          <p:nvPr/>
        </p:nvSpPr>
        <p:spPr>
          <a:xfrm>
            <a:off x="6648450" y="54483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Third-party integrations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payroll, HR systems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47800"/>
            <a:ext cx="6781800" cy="2514600"/>
          </a:xfrm>
          <a:custGeom>
            <a:avLst/>
            <a:gdLst/>
            <a:ahLst/>
            <a:cxnLst/>
            <a:rect l="l" t="t" r="r" b="b"/>
            <a:pathLst>
              <a:path w="6781800" h="2514600">
                <a:moveTo>
                  <a:pt x="114289" y="0"/>
                </a:moveTo>
                <a:lnTo>
                  <a:pt x="6667511" y="0"/>
                </a:lnTo>
                <a:cubicBezTo>
                  <a:pt x="6730589" y="0"/>
                  <a:pt x="6781800" y="51211"/>
                  <a:pt x="6781800" y="114289"/>
                </a:cubicBezTo>
                <a:lnTo>
                  <a:pt x="6781800" y="2400311"/>
                </a:lnTo>
                <a:cubicBezTo>
                  <a:pt x="6781800" y="2463431"/>
                  <a:pt x="6730631" y="2514600"/>
                  <a:pt x="6667511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0569" y="177165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33550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Subscription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257425"/>
            <a:ext cx="2038350" cy="1504950"/>
          </a:xfrm>
          <a:custGeom>
            <a:avLst/>
            <a:gdLst/>
            <a:ahLst/>
            <a:cxnLst/>
            <a:rect l="l" t="t" r="r" b="b"/>
            <a:pathLst>
              <a:path w="2038350" h="1504950">
                <a:moveTo>
                  <a:pt x="76196" y="0"/>
                </a:moveTo>
                <a:lnTo>
                  <a:pt x="1962154" y="0"/>
                </a:lnTo>
                <a:cubicBezTo>
                  <a:pt x="2004236" y="0"/>
                  <a:pt x="2038350" y="34114"/>
                  <a:pt x="2038350" y="76196"/>
                </a:cubicBezTo>
                <a:lnTo>
                  <a:pt x="2038350" y="1428754"/>
                </a:lnTo>
                <a:cubicBezTo>
                  <a:pt x="2038350" y="1470836"/>
                  <a:pt x="2004236" y="1504950"/>
                  <a:pt x="196215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E0E1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9700" y="2419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2533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41702"/>
                  <a:pt x="129600" y="68550"/>
                  <a:pt x="99298" y="74831"/>
                </a:cubicBezTo>
                <a:cubicBezTo>
                  <a:pt x="96947" y="57537"/>
                  <a:pt x="89178" y="41970"/>
                  <a:pt x="77718" y="29914"/>
                </a:cubicBezTo>
                <a:cubicBezTo>
                  <a:pt x="89654" y="11906"/>
                  <a:pt x="110103" y="0"/>
                  <a:pt x="1333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close/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9050" y="19050"/>
                </a:lnTo>
                <a:cubicBezTo>
                  <a:pt x="55870" y="19050"/>
                  <a:pt x="85725" y="48905"/>
                  <a:pt x="85725" y="85725"/>
                </a:cubicBezTo>
                <a:lnTo>
                  <a:pt x="85725" y="142875"/>
                </a:lnTo>
                <a:cubicBezTo>
                  <a:pt x="85725" y="148144"/>
                  <a:pt x="81469" y="152400"/>
                  <a:pt x="76200" y="152400"/>
                </a:cubicBezTo>
                <a:cubicBezTo>
                  <a:pt x="70931" y="152400"/>
                  <a:pt x="66675" y="148144"/>
                  <a:pt x="66675" y="142875"/>
                </a:cubicBezTo>
                <a:lnTo>
                  <a:pt x="66675" y="95250"/>
                </a:lnTo>
                <a:cubicBezTo>
                  <a:pt x="29855" y="95250"/>
                  <a:pt x="0" y="65395"/>
                  <a:pt x="0" y="285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04850" y="287655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9613" y="318135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programs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4375" y="3448050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15A7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scheduling &amp; compliance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52725" y="2257425"/>
            <a:ext cx="2038350" cy="1504950"/>
          </a:xfrm>
          <a:custGeom>
            <a:avLst/>
            <a:gdLst/>
            <a:ahLst/>
            <a:cxnLst/>
            <a:rect l="l" t="t" r="r" b="b"/>
            <a:pathLst>
              <a:path w="2038350" h="1504950">
                <a:moveTo>
                  <a:pt x="76196" y="0"/>
                </a:moveTo>
                <a:lnTo>
                  <a:pt x="1962154" y="0"/>
                </a:lnTo>
                <a:cubicBezTo>
                  <a:pt x="2004236" y="0"/>
                  <a:pt x="2038350" y="34114"/>
                  <a:pt x="2038350" y="76196"/>
                </a:cubicBezTo>
                <a:lnTo>
                  <a:pt x="2038350" y="1428754"/>
                </a:lnTo>
                <a:cubicBezTo>
                  <a:pt x="2038350" y="1470836"/>
                  <a:pt x="2004236" y="1504950"/>
                  <a:pt x="196215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1400" y="2419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3714750" y="25336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876550" y="287655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81313" y="318135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Mid-size departments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86075" y="3448050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15A7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features &amp; analytics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24425" y="2257425"/>
            <a:ext cx="2038350" cy="1504950"/>
          </a:xfrm>
          <a:custGeom>
            <a:avLst/>
            <a:gdLst/>
            <a:ahLst/>
            <a:cxnLst/>
            <a:rect l="l" t="t" r="r" b="b"/>
            <a:pathLst>
              <a:path w="2038350" h="1504950">
                <a:moveTo>
                  <a:pt x="76196" y="0"/>
                </a:moveTo>
                <a:lnTo>
                  <a:pt x="1962154" y="0"/>
                </a:lnTo>
                <a:cubicBezTo>
                  <a:pt x="2004236" y="0"/>
                  <a:pt x="2038350" y="34114"/>
                  <a:pt x="2038350" y="76196"/>
                </a:cubicBezTo>
                <a:lnTo>
                  <a:pt x="2038350" y="1428754"/>
                </a:lnTo>
                <a:cubicBezTo>
                  <a:pt x="2038350" y="1470836"/>
                  <a:pt x="2004236" y="1504950"/>
                  <a:pt x="196215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E0E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53100" y="2419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57875" y="25336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0" y="0"/>
                </a:moveTo>
                <a:cubicBezTo>
                  <a:pt x="84743" y="0"/>
                  <a:pt x="76200" y="8543"/>
                  <a:pt x="76200" y="19050"/>
                </a:cubicBezTo>
                <a:lnTo>
                  <a:pt x="76200" y="28575"/>
                </a:lnTo>
                <a:lnTo>
                  <a:pt x="61912" y="28575"/>
                </a:lnTo>
                <a:lnTo>
                  <a:pt x="61912" y="7144"/>
                </a:lnTo>
                <a:cubicBezTo>
                  <a:pt x="61912" y="3185"/>
                  <a:pt x="58728" y="0"/>
                  <a:pt x="54769" y="0"/>
                </a:cubicBezTo>
                <a:cubicBezTo>
                  <a:pt x="50810" y="0"/>
                  <a:pt x="47625" y="3185"/>
                  <a:pt x="47625" y="7144"/>
                </a:cubicBezTo>
                <a:lnTo>
                  <a:pt x="47625" y="28575"/>
                </a:lnTo>
                <a:lnTo>
                  <a:pt x="28575" y="28575"/>
                </a:lnTo>
                <a:lnTo>
                  <a:pt x="28575" y="7144"/>
                </a:lnTo>
                <a:cubicBezTo>
                  <a:pt x="28575" y="3185"/>
                  <a:pt x="25390" y="0"/>
                  <a:pt x="21431" y="0"/>
                </a:cubicBezTo>
                <a:cubicBezTo>
                  <a:pt x="17472" y="0"/>
                  <a:pt x="14288" y="3185"/>
                  <a:pt x="14288" y="7144"/>
                </a:cubicBezTo>
                <a:lnTo>
                  <a:pt x="14288" y="29170"/>
                </a:lnTo>
                <a:cubicBezTo>
                  <a:pt x="6072" y="31284"/>
                  <a:pt x="0" y="38755"/>
                  <a:pt x="0" y="47625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152400" y="152400"/>
                </a:lnTo>
                <a:cubicBezTo>
                  <a:pt x="162907" y="152400"/>
                  <a:pt x="171450" y="143857"/>
                  <a:pt x="171450" y="133350"/>
                </a:cubicBezTo>
                <a:lnTo>
                  <a:pt x="171450" y="76200"/>
                </a:lnTo>
                <a:cubicBezTo>
                  <a:pt x="171450" y="65693"/>
                  <a:pt x="162907" y="57150"/>
                  <a:pt x="152400" y="57150"/>
                </a:cubicBezTo>
                <a:lnTo>
                  <a:pt x="133350" y="57150"/>
                </a:lnTo>
                <a:lnTo>
                  <a:pt x="133350" y="19050"/>
                </a:lnTo>
                <a:cubicBezTo>
                  <a:pt x="133350" y="8543"/>
                  <a:pt x="124807" y="0"/>
                  <a:pt x="114300" y="0"/>
                </a:cubicBezTo>
                <a:lnTo>
                  <a:pt x="95250" y="0"/>
                </a:lnTo>
                <a:close/>
                <a:moveTo>
                  <a:pt x="114300" y="33338"/>
                </a:moveTo>
                <a:lnTo>
                  <a:pt x="114300" y="42863"/>
                </a:lnTo>
                <a:cubicBezTo>
                  <a:pt x="114300" y="45482"/>
                  <a:pt x="112157" y="47625"/>
                  <a:pt x="109537" y="47625"/>
                </a:cubicBezTo>
                <a:lnTo>
                  <a:pt x="100013" y="47625"/>
                </a:lnTo>
                <a:cubicBezTo>
                  <a:pt x="97393" y="47625"/>
                  <a:pt x="95250" y="45482"/>
                  <a:pt x="95250" y="42863"/>
                </a:cubicBezTo>
                <a:lnTo>
                  <a:pt x="95250" y="33338"/>
                </a:lnTo>
                <a:cubicBezTo>
                  <a:pt x="95250" y="30718"/>
                  <a:pt x="97393" y="28575"/>
                  <a:pt x="100013" y="28575"/>
                </a:cubicBezTo>
                <a:lnTo>
                  <a:pt x="109537" y="28575"/>
                </a:lnTo>
                <a:cubicBezTo>
                  <a:pt x="112157" y="28575"/>
                  <a:pt x="114300" y="30718"/>
                  <a:pt x="114300" y="33338"/>
                </a:cubicBezTo>
                <a:close/>
                <a:moveTo>
                  <a:pt x="109537" y="57150"/>
                </a:moveTo>
                <a:cubicBezTo>
                  <a:pt x="112157" y="57150"/>
                  <a:pt x="114300" y="59293"/>
                  <a:pt x="114300" y="61912"/>
                </a:cubicBezTo>
                <a:lnTo>
                  <a:pt x="114300" y="71438"/>
                </a:lnTo>
                <a:cubicBezTo>
                  <a:pt x="114300" y="74057"/>
                  <a:pt x="112157" y="76200"/>
                  <a:pt x="109537" y="76200"/>
                </a:cubicBezTo>
                <a:lnTo>
                  <a:pt x="100013" y="76200"/>
                </a:lnTo>
                <a:cubicBezTo>
                  <a:pt x="97393" y="76200"/>
                  <a:pt x="95250" y="74057"/>
                  <a:pt x="95250" y="71438"/>
                </a:cubicBezTo>
                <a:lnTo>
                  <a:pt x="95250" y="61912"/>
                </a:lnTo>
                <a:cubicBezTo>
                  <a:pt x="95250" y="59293"/>
                  <a:pt x="97393" y="57150"/>
                  <a:pt x="100013" y="57150"/>
                </a:cubicBezTo>
                <a:lnTo>
                  <a:pt x="109537" y="57150"/>
                </a:lnTo>
                <a:close/>
                <a:moveTo>
                  <a:pt x="114300" y="90488"/>
                </a:moveTo>
                <a:lnTo>
                  <a:pt x="114300" y="100013"/>
                </a:lnTo>
                <a:cubicBezTo>
                  <a:pt x="114300" y="102632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2632"/>
                  <a:pt x="95250" y="100013"/>
                </a:cubicBezTo>
                <a:lnTo>
                  <a:pt x="95250" y="90488"/>
                </a:lnTo>
                <a:cubicBezTo>
                  <a:pt x="95250" y="87868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7868"/>
                  <a:pt x="114300" y="90488"/>
                </a:cubicBezTo>
                <a:close/>
                <a:moveTo>
                  <a:pt x="147638" y="85725"/>
                </a:moveTo>
                <a:cubicBezTo>
                  <a:pt x="150257" y="85725"/>
                  <a:pt x="152400" y="87868"/>
                  <a:pt x="152400" y="90488"/>
                </a:cubicBezTo>
                <a:lnTo>
                  <a:pt x="152400" y="100013"/>
                </a:lnTo>
                <a:cubicBezTo>
                  <a:pt x="152400" y="102632"/>
                  <a:pt x="150257" y="104775"/>
                  <a:pt x="147638" y="104775"/>
                </a:cubicBezTo>
                <a:lnTo>
                  <a:pt x="138113" y="104775"/>
                </a:lnTo>
                <a:cubicBezTo>
                  <a:pt x="135493" y="104775"/>
                  <a:pt x="133350" y="102632"/>
                  <a:pt x="133350" y="100013"/>
                </a:cubicBezTo>
                <a:lnTo>
                  <a:pt x="133350" y="90488"/>
                </a:lnTo>
                <a:cubicBezTo>
                  <a:pt x="133350" y="87868"/>
                  <a:pt x="135493" y="85725"/>
                  <a:pt x="138113" y="85725"/>
                </a:cubicBezTo>
                <a:lnTo>
                  <a:pt x="147638" y="85725"/>
                </a:lnTo>
                <a:close/>
                <a:moveTo>
                  <a:pt x="76200" y="90488"/>
                </a:moveTo>
                <a:lnTo>
                  <a:pt x="76200" y="100013"/>
                </a:lnTo>
                <a:cubicBezTo>
                  <a:pt x="76200" y="102632"/>
                  <a:pt x="74057" y="104775"/>
                  <a:pt x="71438" y="104775"/>
                </a:cubicBezTo>
                <a:lnTo>
                  <a:pt x="61912" y="104775"/>
                </a:lnTo>
                <a:cubicBezTo>
                  <a:pt x="59293" y="104775"/>
                  <a:pt x="57150" y="102632"/>
                  <a:pt x="57150" y="100013"/>
                </a:cubicBezTo>
                <a:lnTo>
                  <a:pt x="57150" y="90488"/>
                </a:lnTo>
                <a:cubicBezTo>
                  <a:pt x="57150" y="87868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7868"/>
                  <a:pt x="76200" y="90488"/>
                </a:cubicBezTo>
                <a:close/>
                <a:moveTo>
                  <a:pt x="71438" y="57150"/>
                </a:moveTo>
                <a:cubicBezTo>
                  <a:pt x="74057" y="57150"/>
                  <a:pt x="76200" y="59293"/>
                  <a:pt x="76200" y="61912"/>
                </a:cubicBezTo>
                <a:lnTo>
                  <a:pt x="76200" y="71438"/>
                </a:lnTo>
                <a:cubicBezTo>
                  <a:pt x="76200" y="74057"/>
                  <a:pt x="74057" y="76200"/>
                  <a:pt x="71438" y="76200"/>
                </a:cubicBezTo>
                <a:lnTo>
                  <a:pt x="61912" y="76200"/>
                </a:lnTo>
                <a:cubicBezTo>
                  <a:pt x="59293" y="76200"/>
                  <a:pt x="57150" y="74057"/>
                  <a:pt x="57150" y="71438"/>
                </a:cubicBezTo>
                <a:lnTo>
                  <a:pt x="57150" y="61912"/>
                </a:lnTo>
                <a:cubicBezTo>
                  <a:pt x="57150" y="59293"/>
                  <a:pt x="59293" y="57150"/>
                  <a:pt x="61912" y="57150"/>
                </a:cubicBezTo>
                <a:lnTo>
                  <a:pt x="71438" y="57150"/>
                </a:lnTo>
                <a:close/>
                <a:moveTo>
                  <a:pt x="38100" y="90488"/>
                </a:moveTo>
                <a:lnTo>
                  <a:pt x="38100" y="100013"/>
                </a:lnTo>
                <a:cubicBezTo>
                  <a:pt x="38100" y="102632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2632"/>
                  <a:pt x="19050" y="100013"/>
                </a:cubicBezTo>
                <a:lnTo>
                  <a:pt x="19050" y="90488"/>
                </a:lnTo>
                <a:cubicBezTo>
                  <a:pt x="19050" y="87868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7868"/>
                  <a:pt x="38100" y="90488"/>
                </a:cubicBezTo>
                <a:close/>
                <a:moveTo>
                  <a:pt x="33338" y="57150"/>
                </a:moveTo>
                <a:cubicBezTo>
                  <a:pt x="35957" y="57150"/>
                  <a:pt x="38100" y="59293"/>
                  <a:pt x="38100" y="61912"/>
                </a:cubicBezTo>
                <a:lnTo>
                  <a:pt x="38100" y="71438"/>
                </a:lnTo>
                <a:cubicBezTo>
                  <a:pt x="38100" y="74057"/>
                  <a:pt x="35957" y="76200"/>
                  <a:pt x="33338" y="76200"/>
                </a:cubicBezTo>
                <a:lnTo>
                  <a:pt x="23813" y="76200"/>
                </a:lnTo>
                <a:cubicBezTo>
                  <a:pt x="21193" y="76200"/>
                  <a:pt x="19050" y="74057"/>
                  <a:pt x="19050" y="71438"/>
                </a:cubicBezTo>
                <a:lnTo>
                  <a:pt x="19050" y="61912"/>
                </a:lnTo>
                <a:cubicBezTo>
                  <a:pt x="19050" y="59293"/>
                  <a:pt x="21193" y="57150"/>
                  <a:pt x="23813" y="57150"/>
                </a:cubicBezTo>
                <a:lnTo>
                  <a:pt x="33338" y="5715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048250" y="287655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53013" y="318135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systems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57775" y="3448050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15A7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platform + API access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" y="4114800"/>
            <a:ext cx="6781800" cy="2019300"/>
          </a:xfrm>
          <a:custGeom>
            <a:avLst/>
            <a:gdLst/>
            <a:ahLst/>
            <a:cxnLst/>
            <a:rect l="l" t="t" r="r" b="b"/>
            <a:pathLst>
              <a:path w="6781800" h="2019300">
                <a:moveTo>
                  <a:pt x="114292" y="0"/>
                </a:moveTo>
                <a:lnTo>
                  <a:pt x="6667508" y="0"/>
                </a:lnTo>
                <a:cubicBezTo>
                  <a:pt x="6730630" y="0"/>
                  <a:pt x="6781800" y="51170"/>
                  <a:pt x="6781800" y="114292"/>
                </a:cubicBezTo>
                <a:lnTo>
                  <a:pt x="6781800" y="1905008"/>
                </a:lnTo>
                <a:cubicBezTo>
                  <a:pt x="6781800" y="1968130"/>
                  <a:pt x="6730630" y="2019300"/>
                  <a:pt x="6667508" y="2019300"/>
                </a:cubicBezTo>
                <a:lnTo>
                  <a:pt x="114292" y="2019300"/>
                </a:lnTo>
                <a:cubicBezTo>
                  <a:pt x="51170" y="2019300"/>
                  <a:pt x="0" y="1968130"/>
                  <a:pt x="0" y="19050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1500" y="4305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81038" y="4438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440055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Services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1500" y="4914900"/>
            <a:ext cx="3143250" cy="457200"/>
          </a:xfrm>
          <a:custGeom>
            <a:avLst/>
            <a:gdLst/>
            <a:ahLst/>
            <a:cxnLst/>
            <a:rect l="l" t="t" r="r" b="b"/>
            <a:pathLst>
              <a:path w="3143250" h="457200">
                <a:moveTo>
                  <a:pt x="76202" y="0"/>
                </a:moveTo>
                <a:lnTo>
                  <a:pt x="3067048" y="0"/>
                </a:lnTo>
                <a:cubicBezTo>
                  <a:pt x="3109133" y="0"/>
                  <a:pt x="3143250" y="34117"/>
                  <a:pt x="3143250" y="76202"/>
                </a:cubicBezTo>
                <a:lnTo>
                  <a:pt x="3143250" y="380998"/>
                </a:lnTo>
                <a:cubicBezTo>
                  <a:pt x="3143250" y="423083"/>
                  <a:pt x="3109133" y="457200"/>
                  <a:pt x="30670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5067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61925" y="28575"/>
                </a:moveTo>
                <a:cubicBezTo>
                  <a:pt x="165884" y="28575"/>
                  <a:pt x="169069" y="31760"/>
                  <a:pt x="169069" y="35719"/>
                </a:cubicBezTo>
                <a:lnTo>
                  <a:pt x="169069" y="50006"/>
                </a:lnTo>
                <a:lnTo>
                  <a:pt x="183356" y="50006"/>
                </a:lnTo>
                <a:cubicBezTo>
                  <a:pt x="187315" y="50006"/>
                  <a:pt x="190500" y="53191"/>
                  <a:pt x="190500" y="57150"/>
                </a:cubicBezTo>
                <a:cubicBezTo>
                  <a:pt x="190500" y="61109"/>
                  <a:pt x="187315" y="64294"/>
                  <a:pt x="183356" y="64294"/>
                </a:cubicBezTo>
                <a:lnTo>
                  <a:pt x="169069" y="64294"/>
                </a:lnTo>
                <a:lnTo>
                  <a:pt x="169069" y="78581"/>
                </a:lnTo>
                <a:cubicBezTo>
                  <a:pt x="169069" y="82540"/>
                  <a:pt x="165884" y="85725"/>
                  <a:pt x="161925" y="85725"/>
                </a:cubicBezTo>
                <a:cubicBezTo>
                  <a:pt x="157966" y="85725"/>
                  <a:pt x="154781" y="82540"/>
                  <a:pt x="154781" y="78581"/>
                </a:cubicBezTo>
                <a:lnTo>
                  <a:pt x="154781" y="64294"/>
                </a:lnTo>
                <a:lnTo>
                  <a:pt x="140494" y="64294"/>
                </a:lnTo>
                <a:cubicBezTo>
                  <a:pt x="136535" y="64294"/>
                  <a:pt x="133350" y="61109"/>
                  <a:pt x="133350" y="57150"/>
                </a:cubicBezTo>
                <a:cubicBezTo>
                  <a:pt x="133350" y="53191"/>
                  <a:pt x="136535" y="50006"/>
                  <a:pt x="140494" y="50006"/>
                </a:cubicBezTo>
                <a:lnTo>
                  <a:pt x="154781" y="50006"/>
                </a:lnTo>
                <a:lnTo>
                  <a:pt x="154781" y="35719"/>
                </a:lnTo>
                <a:cubicBezTo>
                  <a:pt x="154781" y="31760"/>
                  <a:pt x="157966" y="28575"/>
                  <a:pt x="161925" y="285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50292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 &amp; training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29050" y="4914900"/>
            <a:ext cx="3143250" cy="457200"/>
          </a:xfrm>
          <a:custGeom>
            <a:avLst/>
            <a:gdLst/>
            <a:ahLst/>
            <a:cxnLst/>
            <a:rect l="l" t="t" r="r" b="b"/>
            <a:pathLst>
              <a:path w="3143250" h="457200">
                <a:moveTo>
                  <a:pt x="76202" y="0"/>
                </a:moveTo>
                <a:lnTo>
                  <a:pt x="3067048" y="0"/>
                </a:lnTo>
                <a:cubicBezTo>
                  <a:pt x="3109133" y="0"/>
                  <a:pt x="3143250" y="34117"/>
                  <a:pt x="3143250" y="76202"/>
                </a:cubicBezTo>
                <a:lnTo>
                  <a:pt x="3143250" y="380998"/>
                </a:lnTo>
                <a:cubicBezTo>
                  <a:pt x="3143250" y="423083"/>
                  <a:pt x="3109133" y="457200"/>
                  <a:pt x="30670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Shape 32"/>
          <p:cNvSpPr/>
          <p:nvPr/>
        </p:nvSpPr>
        <p:spPr>
          <a:xfrm>
            <a:off x="3971925" y="5067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210050" y="502920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migration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1500" y="5486400"/>
            <a:ext cx="3143250" cy="457200"/>
          </a:xfrm>
          <a:custGeom>
            <a:avLst/>
            <a:gdLst/>
            <a:ahLst/>
            <a:cxnLst/>
            <a:rect l="l" t="t" r="r" b="b"/>
            <a:pathLst>
              <a:path w="3143250" h="457200">
                <a:moveTo>
                  <a:pt x="76202" y="0"/>
                </a:moveTo>
                <a:lnTo>
                  <a:pt x="3067048" y="0"/>
                </a:lnTo>
                <a:cubicBezTo>
                  <a:pt x="3109133" y="0"/>
                  <a:pt x="3143250" y="34117"/>
                  <a:pt x="3143250" y="76202"/>
                </a:cubicBezTo>
                <a:lnTo>
                  <a:pt x="3143250" y="380998"/>
                </a:lnTo>
                <a:cubicBezTo>
                  <a:pt x="3143250" y="423083"/>
                  <a:pt x="3109133" y="457200"/>
                  <a:pt x="30670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850" y="563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4256" y="19050"/>
                  <a:pt x="0" y="23306"/>
                  <a:pt x="0" y="28575"/>
                </a:cubicBezTo>
                <a:cubicBezTo>
                  <a:pt x="0" y="33844"/>
                  <a:pt x="4256" y="38100"/>
                  <a:pt x="9525" y="38100"/>
                </a:cubicBezTo>
                <a:lnTo>
                  <a:pt x="35332" y="38100"/>
                </a:lnTo>
                <a:cubicBezTo>
                  <a:pt x="38993" y="46524"/>
                  <a:pt x="47387" y="52388"/>
                  <a:pt x="57150" y="52388"/>
                </a:cubicBezTo>
                <a:cubicBezTo>
                  <a:pt x="66913" y="52388"/>
                  <a:pt x="75307" y="46524"/>
                  <a:pt x="78968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78968" y="19050"/>
                </a:lnTo>
                <a:cubicBezTo>
                  <a:pt x="75307" y="10626"/>
                  <a:pt x="66913" y="4763"/>
                  <a:pt x="57150" y="4763"/>
                </a:cubicBezTo>
                <a:cubicBezTo>
                  <a:pt x="47387" y="4763"/>
                  <a:pt x="38993" y="10626"/>
                  <a:pt x="35332" y="19050"/>
                </a:cubicBezTo>
                <a:lnTo>
                  <a:pt x="9525" y="19050"/>
                </a:lnTo>
                <a:close/>
                <a:moveTo>
                  <a:pt x="9525" y="66675"/>
                </a:move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82957" y="85725"/>
                </a:lnTo>
                <a:cubicBezTo>
                  <a:pt x="86618" y="94149"/>
                  <a:pt x="95012" y="100013"/>
                  <a:pt x="104775" y="100013"/>
                </a:cubicBezTo>
                <a:cubicBezTo>
                  <a:pt x="114538" y="100013"/>
                  <a:pt x="122932" y="94149"/>
                  <a:pt x="126593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126593" y="66675"/>
                </a:lnTo>
                <a:cubicBezTo>
                  <a:pt x="122932" y="58251"/>
                  <a:pt x="114538" y="52388"/>
                  <a:pt x="104775" y="52388"/>
                </a:cubicBezTo>
                <a:cubicBezTo>
                  <a:pt x="95012" y="52388"/>
                  <a:pt x="86618" y="58251"/>
                  <a:pt x="82957" y="66675"/>
                </a:cubicBezTo>
                <a:lnTo>
                  <a:pt x="9525" y="66675"/>
                </a:lnTo>
                <a:close/>
                <a:moveTo>
                  <a:pt x="9525" y="114300"/>
                </a:moveTo>
                <a:cubicBezTo>
                  <a:pt x="4256" y="114300"/>
                  <a:pt x="0" y="118556"/>
                  <a:pt x="0" y="123825"/>
                </a:cubicBezTo>
                <a:cubicBezTo>
                  <a:pt x="0" y="129094"/>
                  <a:pt x="4256" y="133350"/>
                  <a:pt x="9525" y="133350"/>
                </a:cubicBezTo>
                <a:lnTo>
                  <a:pt x="25807" y="133350"/>
                </a:lnTo>
                <a:cubicBezTo>
                  <a:pt x="29468" y="141774"/>
                  <a:pt x="37862" y="147638"/>
                  <a:pt x="47625" y="147638"/>
                </a:cubicBezTo>
                <a:cubicBezTo>
                  <a:pt x="57388" y="147638"/>
                  <a:pt x="65782" y="141774"/>
                  <a:pt x="69443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69443" y="114300"/>
                </a:lnTo>
                <a:cubicBezTo>
                  <a:pt x="65782" y="105876"/>
                  <a:pt x="57388" y="100013"/>
                  <a:pt x="47625" y="100013"/>
                </a:cubicBezTo>
                <a:cubicBezTo>
                  <a:pt x="37862" y="100013"/>
                  <a:pt x="29468" y="105876"/>
                  <a:pt x="25807" y="114300"/>
                </a:cubicBezTo>
                <a:lnTo>
                  <a:pt x="9525" y="11430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" y="56007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29050" y="5486400"/>
            <a:ext cx="3143250" cy="457200"/>
          </a:xfrm>
          <a:custGeom>
            <a:avLst/>
            <a:gdLst/>
            <a:ahLst/>
            <a:cxnLst/>
            <a:rect l="l" t="t" r="r" b="b"/>
            <a:pathLst>
              <a:path w="3143250" h="457200">
                <a:moveTo>
                  <a:pt x="76202" y="0"/>
                </a:moveTo>
                <a:lnTo>
                  <a:pt x="3067048" y="0"/>
                </a:lnTo>
                <a:cubicBezTo>
                  <a:pt x="3109133" y="0"/>
                  <a:pt x="3143250" y="34117"/>
                  <a:pt x="3143250" y="76202"/>
                </a:cubicBezTo>
                <a:lnTo>
                  <a:pt x="3143250" y="380998"/>
                </a:lnTo>
                <a:cubicBezTo>
                  <a:pt x="3143250" y="423083"/>
                  <a:pt x="3109133" y="457200"/>
                  <a:pt x="30670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3971925" y="5638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19050"/>
                </a:moveTo>
                <a:cubicBezTo>
                  <a:pt x="43160" y="19050"/>
                  <a:pt x="23604" y="36106"/>
                  <a:pt x="19735" y="58549"/>
                </a:cubicBezTo>
                <a:cubicBezTo>
                  <a:pt x="22503" y="57656"/>
                  <a:pt x="25479" y="57150"/>
                  <a:pt x="28575" y="57150"/>
                </a:cubicBezTo>
                <a:lnTo>
                  <a:pt x="33338" y="57150"/>
                </a:lnTo>
                <a:cubicBezTo>
                  <a:pt x="41225" y="57150"/>
                  <a:pt x="47625" y="63550"/>
                  <a:pt x="47625" y="71438"/>
                </a:cubicBezTo>
                <a:lnTo>
                  <a:pt x="47625" y="100013"/>
                </a:lnTo>
                <a:cubicBezTo>
                  <a:pt x="47625" y="107900"/>
                  <a:pt x="41225" y="114300"/>
                  <a:pt x="33338" y="114300"/>
                </a:cubicBezTo>
                <a:lnTo>
                  <a:pt x="28575" y="114300"/>
                </a:lnTo>
                <a:cubicBezTo>
                  <a:pt x="12799" y="114300"/>
                  <a:pt x="0" y="101501"/>
                  <a:pt x="0" y="85725"/>
                </a:cubicBezTo>
                <a:lnTo>
                  <a:pt x="0" y="66675"/>
                </a:lnTo>
                <a:cubicBezTo>
                  <a:pt x="0" y="29855"/>
                  <a:pt x="29855" y="0"/>
                  <a:pt x="66675" y="0"/>
                </a:cubicBezTo>
                <a:cubicBezTo>
                  <a:pt x="103495" y="0"/>
                  <a:pt x="133350" y="29855"/>
                  <a:pt x="133350" y="66675"/>
                </a:cubicBezTo>
                <a:lnTo>
                  <a:pt x="133350" y="116711"/>
                </a:lnTo>
                <a:cubicBezTo>
                  <a:pt x="133350" y="136446"/>
                  <a:pt x="117336" y="152430"/>
                  <a:pt x="97601" y="152430"/>
                </a:cubicBezTo>
                <a:lnTo>
                  <a:pt x="71438" y="152400"/>
                </a:lnTo>
                <a:lnTo>
                  <a:pt x="61912" y="152400"/>
                </a:lnTo>
                <a:cubicBezTo>
                  <a:pt x="54025" y="152400"/>
                  <a:pt x="47625" y="146000"/>
                  <a:pt x="47625" y="138113"/>
                </a:cubicBezTo>
                <a:cubicBezTo>
                  <a:pt x="47625" y="130225"/>
                  <a:pt x="54025" y="123825"/>
                  <a:pt x="61912" y="123825"/>
                </a:cubicBezTo>
                <a:lnTo>
                  <a:pt x="71438" y="123825"/>
                </a:lnTo>
                <a:cubicBezTo>
                  <a:pt x="79325" y="123825"/>
                  <a:pt x="85725" y="130225"/>
                  <a:pt x="85725" y="138113"/>
                </a:cubicBezTo>
                <a:lnTo>
                  <a:pt x="85725" y="138113"/>
                </a:lnTo>
                <a:lnTo>
                  <a:pt x="97631" y="138113"/>
                </a:lnTo>
                <a:cubicBezTo>
                  <a:pt x="109478" y="138113"/>
                  <a:pt x="119062" y="128528"/>
                  <a:pt x="119062" y="116681"/>
                </a:cubicBezTo>
                <a:lnTo>
                  <a:pt x="119062" y="110460"/>
                </a:lnTo>
                <a:cubicBezTo>
                  <a:pt x="114866" y="112901"/>
                  <a:pt x="109984" y="114270"/>
                  <a:pt x="104775" y="114270"/>
                </a:cubicBezTo>
                <a:lnTo>
                  <a:pt x="100013" y="114270"/>
                </a:lnTo>
                <a:cubicBezTo>
                  <a:pt x="92125" y="114270"/>
                  <a:pt x="85725" y="107871"/>
                  <a:pt x="85725" y="99983"/>
                </a:cubicBezTo>
                <a:lnTo>
                  <a:pt x="85725" y="71408"/>
                </a:lnTo>
                <a:cubicBezTo>
                  <a:pt x="85725" y="63520"/>
                  <a:pt x="92125" y="57120"/>
                  <a:pt x="100013" y="57120"/>
                </a:cubicBezTo>
                <a:lnTo>
                  <a:pt x="104775" y="57120"/>
                </a:lnTo>
                <a:cubicBezTo>
                  <a:pt x="107871" y="57120"/>
                  <a:pt x="110817" y="57596"/>
                  <a:pt x="113615" y="58519"/>
                </a:cubicBezTo>
                <a:cubicBezTo>
                  <a:pt x="109746" y="36106"/>
                  <a:pt x="90220" y="19020"/>
                  <a:pt x="66675" y="1902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4210050" y="560070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support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53300" y="1447800"/>
            <a:ext cx="4457700" cy="5029200"/>
          </a:xfrm>
          <a:custGeom>
            <a:avLst/>
            <a:gdLst/>
            <a:ahLst/>
            <a:cxnLst/>
            <a:rect l="l" t="t" r="r" b="b"/>
            <a:pathLst>
              <a:path w="4457700" h="5029200">
                <a:moveTo>
                  <a:pt x="114295" y="0"/>
                </a:moveTo>
                <a:lnTo>
                  <a:pt x="4343405" y="0"/>
                </a:lnTo>
                <a:cubicBezTo>
                  <a:pt x="4406486" y="0"/>
                  <a:pt x="4457700" y="51214"/>
                  <a:pt x="4457700" y="114295"/>
                </a:cubicBezTo>
                <a:lnTo>
                  <a:pt x="4457700" y="4914905"/>
                </a:lnTo>
                <a:cubicBezTo>
                  <a:pt x="4457700" y="4977986"/>
                  <a:pt x="4406486" y="5029200"/>
                  <a:pt x="4343405" y="5029200"/>
                </a:cubicBezTo>
                <a:lnTo>
                  <a:pt x="114295" y="5029200"/>
                </a:lnTo>
                <a:cubicBezTo>
                  <a:pt x="51214" y="5029200"/>
                  <a:pt x="0" y="4977986"/>
                  <a:pt x="0" y="4914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D1B2A"/>
              </a:gs>
              <a:gs pos="100000">
                <a:srgbClr val="415A77"/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9410700" y="20764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7486650" y="25336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05700" y="291465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revenue channels for sustainable growth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43800" y="3333750"/>
            <a:ext cx="4076700" cy="762000"/>
          </a:xfrm>
          <a:custGeom>
            <a:avLst/>
            <a:gdLst/>
            <a:ahLst/>
            <a:cxnLst/>
            <a:rect l="l" t="t" r="r" b="b"/>
            <a:pathLst>
              <a:path w="4076700" h="762000">
                <a:moveTo>
                  <a:pt x="76200" y="0"/>
                </a:moveTo>
                <a:lnTo>
                  <a:pt x="4000500" y="0"/>
                </a:lnTo>
                <a:cubicBezTo>
                  <a:pt x="4042556" y="0"/>
                  <a:pt x="4076700" y="34144"/>
                  <a:pt x="4076700" y="76200"/>
                </a:cubicBezTo>
                <a:lnTo>
                  <a:pt x="4076700" y="685800"/>
                </a:lnTo>
                <a:cubicBezTo>
                  <a:pt x="4076700" y="727856"/>
                  <a:pt x="4042556" y="762000"/>
                  <a:pt x="4000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696200" y="348615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Revenue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58289" y="3486150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96200" y="3752850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Monthly/annual SaaS subscriptions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43800" y="4210050"/>
            <a:ext cx="4076700" cy="762000"/>
          </a:xfrm>
          <a:custGeom>
            <a:avLst/>
            <a:gdLst/>
            <a:ahLst/>
            <a:cxnLst/>
            <a:rect l="l" t="t" r="r" b="b"/>
            <a:pathLst>
              <a:path w="4076700" h="762000">
                <a:moveTo>
                  <a:pt x="76200" y="0"/>
                </a:moveTo>
                <a:lnTo>
                  <a:pt x="4000500" y="0"/>
                </a:lnTo>
                <a:cubicBezTo>
                  <a:pt x="4042556" y="0"/>
                  <a:pt x="4076700" y="34144"/>
                  <a:pt x="4076700" y="76200"/>
                </a:cubicBezTo>
                <a:lnTo>
                  <a:pt x="4076700" y="685800"/>
                </a:lnTo>
                <a:cubicBezTo>
                  <a:pt x="4076700" y="727856"/>
                  <a:pt x="4042556" y="762000"/>
                  <a:pt x="4000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96200" y="436245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763548" y="436245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96200" y="4629150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setup and training fees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43800" y="5086350"/>
            <a:ext cx="4076700" cy="762000"/>
          </a:xfrm>
          <a:custGeom>
            <a:avLst/>
            <a:gdLst/>
            <a:ahLst/>
            <a:cxnLst/>
            <a:rect l="l" t="t" r="r" b="b"/>
            <a:pathLst>
              <a:path w="4076700" h="762000">
                <a:moveTo>
                  <a:pt x="76200" y="0"/>
                </a:moveTo>
                <a:lnTo>
                  <a:pt x="4000500" y="0"/>
                </a:lnTo>
                <a:cubicBezTo>
                  <a:pt x="4042556" y="0"/>
                  <a:pt x="4076700" y="34144"/>
                  <a:pt x="4076700" y="76200"/>
                </a:cubicBezTo>
                <a:lnTo>
                  <a:pt x="4076700" y="685800"/>
                </a:lnTo>
                <a:cubicBezTo>
                  <a:pt x="4076700" y="727856"/>
                  <a:pt x="4042556" y="762000"/>
                  <a:pt x="4000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696200" y="52387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Access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802094" y="523875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696200" y="5505450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integrations and custom development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66850"/>
            <a:ext cx="2743200" cy="5010150"/>
          </a:xfrm>
          <a:custGeom>
            <a:avLst/>
            <a:gdLst/>
            <a:ahLst/>
            <a:cxnLst/>
            <a:rect l="l" t="t" r="r" b="b"/>
            <a:pathLst>
              <a:path w="2743200" h="50101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895841"/>
                </a:lnTo>
                <a:cubicBezTo>
                  <a:pt x="2743200" y="4958972"/>
                  <a:pt x="2692022" y="5010150"/>
                  <a:pt x="2628891" y="5010150"/>
                </a:cubicBezTo>
                <a:lnTo>
                  <a:pt x="114309" y="5010150"/>
                </a:lnTo>
                <a:cubicBezTo>
                  <a:pt x="51178" y="5010150"/>
                  <a:pt x="0" y="4958972"/>
                  <a:pt x="0" y="48958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4668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238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716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Nursing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286000"/>
            <a:ext cx="2362200" cy="1066800"/>
          </a:xfrm>
          <a:custGeom>
            <a:avLst/>
            <a:gdLst/>
            <a:ahLst/>
            <a:cxnLst/>
            <a:rect l="l" t="t" r="r" b="b"/>
            <a:pathLst>
              <a:path w="2362200" h="1066800">
                <a:moveTo>
                  <a:pt x="76202" y="0"/>
                </a:moveTo>
                <a:lnTo>
                  <a:pt x="2285998" y="0"/>
                </a:lnTo>
                <a:cubicBezTo>
                  <a:pt x="2328083" y="0"/>
                  <a:pt x="2362200" y="34117"/>
                  <a:pt x="2362200" y="76202"/>
                </a:cubicBezTo>
                <a:lnTo>
                  <a:pt x="2362200" y="990598"/>
                </a:lnTo>
                <a:cubicBezTo>
                  <a:pt x="2362200" y="1032683"/>
                  <a:pt x="2328083" y="1066800"/>
                  <a:pt x="22859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95325" y="2438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24003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Certification Tracking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" y="2667000"/>
            <a:ext cx="1933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Expanded user attributes for ACLS, PALS, and specialty certifications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4671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850" y="3619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5814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Staffing Dashboards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38481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dashboards for state and federal staffing ratios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44577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4375" y="4610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8575" y="13365"/>
                </a:moveTo>
                <a:cubicBezTo>
                  <a:pt x="28575" y="9585"/>
                  <a:pt x="30807" y="6161"/>
                  <a:pt x="34290" y="4643"/>
                </a:cubicBezTo>
                <a:lnTo>
                  <a:pt x="62865" y="-7858"/>
                </a:lnTo>
                <a:cubicBezTo>
                  <a:pt x="65306" y="-8930"/>
                  <a:pt x="68074" y="-8930"/>
                  <a:pt x="70515" y="-7858"/>
                </a:cubicBezTo>
                <a:lnTo>
                  <a:pt x="99090" y="4643"/>
                </a:lnTo>
                <a:cubicBezTo>
                  <a:pt x="102543" y="6161"/>
                  <a:pt x="104775" y="9585"/>
                  <a:pt x="104775" y="13365"/>
                </a:cubicBezTo>
                <a:lnTo>
                  <a:pt x="104775" y="42863"/>
                </a:lnTo>
                <a:cubicBezTo>
                  <a:pt x="104775" y="63907"/>
                  <a:pt x="87719" y="80962"/>
                  <a:pt x="66675" y="80962"/>
                </a:cubicBezTo>
                <a:cubicBezTo>
                  <a:pt x="45631" y="80962"/>
                  <a:pt x="28575" y="63907"/>
                  <a:pt x="28575" y="42863"/>
                </a:cubicBezTo>
                <a:lnTo>
                  <a:pt x="28575" y="13365"/>
                </a:lnTo>
                <a:close/>
                <a:moveTo>
                  <a:pt x="90488" y="38100"/>
                </a:moveTo>
                <a:lnTo>
                  <a:pt x="57269" y="38100"/>
                </a:lnTo>
                <a:lnTo>
                  <a:pt x="57150" y="38100"/>
                </a:lnTo>
                <a:lnTo>
                  <a:pt x="42863" y="38100"/>
                </a:lnTo>
                <a:lnTo>
                  <a:pt x="42863" y="42863"/>
                </a:lnTo>
                <a:cubicBezTo>
                  <a:pt x="42863" y="56019"/>
                  <a:pt x="53519" y="66675"/>
                  <a:pt x="66675" y="66675"/>
                </a:cubicBezTo>
                <a:cubicBezTo>
                  <a:pt x="79831" y="66675"/>
                  <a:pt x="90488" y="56019"/>
                  <a:pt x="90488" y="42863"/>
                </a:cubicBezTo>
                <a:lnTo>
                  <a:pt x="90488" y="38100"/>
                </a:lnTo>
                <a:close/>
                <a:moveTo>
                  <a:pt x="61912" y="4763"/>
                </a:moveTo>
                <a:lnTo>
                  <a:pt x="61912" y="9525"/>
                </a:lnTo>
                <a:lnTo>
                  <a:pt x="57150" y="9525"/>
                </a:lnTo>
                <a:cubicBezTo>
                  <a:pt x="55840" y="9525"/>
                  <a:pt x="54769" y="10597"/>
                  <a:pt x="54769" y="11906"/>
                </a:cubicBezTo>
                <a:lnTo>
                  <a:pt x="54769" y="16669"/>
                </a:lnTo>
                <a:cubicBezTo>
                  <a:pt x="54769" y="17978"/>
                  <a:pt x="55840" y="19050"/>
                  <a:pt x="57150" y="19050"/>
                </a:cubicBezTo>
                <a:lnTo>
                  <a:pt x="61912" y="19050"/>
                </a:lnTo>
                <a:lnTo>
                  <a:pt x="61912" y="23813"/>
                </a:lnTo>
                <a:cubicBezTo>
                  <a:pt x="61912" y="25122"/>
                  <a:pt x="62984" y="26194"/>
                  <a:pt x="64294" y="26194"/>
                </a:cubicBezTo>
                <a:lnTo>
                  <a:pt x="69056" y="26194"/>
                </a:lnTo>
                <a:cubicBezTo>
                  <a:pt x="70366" y="26194"/>
                  <a:pt x="71438" y="25122"/>
                  <a:pt x="71438" y="23813"/>
                </a:cubicBezTo>
                <a:lnTo>
                  <a:pt x="71438" y="19050"/>
                </a:lnTo>
                <a:lnTo>
                  <a:pt x="76200" y="19050"/>
                </a:lnTo>
                <a:cubicBezTo>
                  <a:pt x="77510" y="19050"/>
                  <a:pt x="78581" y="17978"/>
                  <a:pt x="78581" y="16669"/>
                </a:cubicBezTo>
                <a:lnTo>
                  <a:pt x="78581" y="11906"/>
                </a:lnTo>
                <a:cubicBezTo>
                  <a:pt x="78581" y="10597"/>
                  <a:pt x="77510" y="9525"/>
                  <a:pt x="76200" y="9525"/>
                </a:cubicBezTo>
                <a:lnTo>
                  <a:pt x="71438" y="9525"/>
                </a:lnTo>
                <a:lnTo>
                  <a:pt x="71438" y="4763"/>
                </a:lnTo>
                <a:cubicBezTo>
                  <a:pt x="71438" y="3453"/>
                  <a:pt x="70366" y="2381"/>
                  <a:pt x="69056" y="2381"/>
                </a:cubicBezTo>
                <a:lnTo>
                  <a:pt x="64294" y="2381"/>
                </a:lnTo>
                <a:cubicBezTo>
                  <a:pt x="62984" y="2381"/>
                  <a:pt x="61912" y="3453"/>
                  <a:pt x="61912" y="4763"/>
                </a:cubicBezTo>
                <a:close/>
                <a:moveTo>
                  <a:pt x="42446" y="96143"/>
                </a:moveTo>
                <a:cubicBezTo>
                  <a:pt x="40511" y="94684"/>
                  <a:pt x="37921" y="94298"/>
                  <a:pt x="35719" y="95310"/>
                </a:cubicBezTo>
                <a:cubicBezTo>
                  <a:pt x="17443" y="103703"/>
                  <a:pt x="4733" y="122158"/>
                  <a:pt x="4733" y="143560"/>
                </a:cubicBezTo>
                <a:cubicBezTo>
                  <a:pt x="4733" y="148441"/>
                  <a:pt x="8692" y="152400"/>
                  <a:pt x="13573" y="152400"/>
                </a:cubicBezTo>
                <a:lnTo>
                  <a:pt x="119717" y="152400"/>
                </a:lnTo>
                <a:cubicBezTo>
                  <a:pt x="124599" y="152400"/>
                  <a:pt x="128558" y="148441"/>
                  <a:pt x="128558" y="143560"/>
                </a:cubicBezTo>
                <a:cubicBezTo>
                  <a:pt x="128558" y="122128"/>
                  <a:pt x="115848" y="103674"/>
                  <a:pt x="97572" y="95310"/>
                </a:cubicBezTo>
                <a:cubicBezTo>
                  <a:pt x="95369" y="94298"/>
                  <a:pt x="92779" y="94684"/>
                  <a:pt x="90845" y="96143"/>
                </a:cubicBezTo>
                <a:lnTo>
                  <a:pt x="70902" y="111085"/>
                </a:lnTo>
                <a:cubicBezTo>
                  <a:pt x="68372" y="112990"/>
                  <a:pt x="64859" y="112990"/>
                  <a:pt x="62329" y="111085"/>
                </a:cubicBezTo>
                <a:lnTo>
                  <a:pt x="42386" y="96143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572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Nursing Workflows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48387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workflows for nursing shift management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76600" y="1466850"/>
            <a:ext cx="2743200" cy="5010150"/>
          </a:xfrm>
          <a:custGeom>
            <a:avLst/>
            <a:gdLst/>
            <a:ahLst/>
            <a:cxnLst/>
            <a:rect l="l" t="t" r="r" b="b"/>
            <a:pathLst>
              <a:path w="2743200" h="50101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895841"/>
                </a:lnTo>
                <a:cubicBezTo>
                  <a:pt x="2743200" y="4958972"/>
                  <a:pt x="2692022" y="5010150"/>
                  <a:pt x="2628891" y="5010150"/>
                </a:cubicBezTo>
                <a:lnTo>
                  <a:pt x="114309" y="5010150"/>
                </a:lnTo>
                <a:cubicBezTo>
                  <a:pt x="51178" y="5010150"/>
                  <a:pt x="0" y="4958972"/>
                  <a:pt x="0" y="48958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6600" y="14668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3" name="Shape 21"/>
          <p:cNvSpPr/>
          <p:nvPr/>
        </p:nvSpPr>
        <p:spPr>
          <a:xfrm>
            <a:off x="34671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4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038600" y="177165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67100" y="22860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Shape 25"/>
          <p:cNvSpPr/>
          <p:nvPr/>
        </p:nvSpPr>
        <p:spPr>
          <a:xfrm>
            <a:off x="3619500" y="2438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3848100" y="24003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Apps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8100" y="26670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and Android applications for on-the-go access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67100" y="32766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609975" y="3429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3848100" y="33909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48100" y="36576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 for schedule changes and conflicts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67100" y="42672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3609975" y="4419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3848100" y="4381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Requests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48100" y="46482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 time-off and swap requests from mobile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2200" y="1466850"/>
            <a:ext cx="2743200" cy="5010150"/>
          </a:xfrm>
          <a:custGeom>
            <a:avLst/>
            <a:gdLst/>
            <a:ahLst/>
            <a:cxnLst/>
            <a:rect l="l" t="t" r="r" b="b"/>
            <a:pathLst>
              <a:path w="2743200" h="50101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895841"/>
                </a:lnTo>
                <a:cubicBezTo>
                  <a:pt x="2743200" y="4958972"/>
                  <a:pt x="2692022" y="5010150"/>
                  <a:pt x="2628891" y="5010150"/>
                </a:cubicBezTo>
                <a:lnTo>
                  <a:pt x="114309" y="5010150"/>
                </a:lnTo>
                <a:cubicBezTo>
                  <a:pt x="51178" y="5010150"/>
                  <a:pt x="0" y="4958972"/>
                  <a:pt x="0" y="48958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14668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0" name="Shape 38"/>
          <p:cNvSpPr/>
          <p:nvPr/>
        </p:nvSpPr>
        <p:spPr>
          <a:xfrm>
            <a:off x="63627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63150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34200" y="177165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2700" y="2286000"/>
            <a:ext cx="2362200" cy="1066800"/>
          </a:xfrm>
          <a:custGeom>
            <a:avLst/>
            <a:gdLst/>
            <a:ahLst/>
            <a:cxnLst/>
            <a:rect l="l" t="t" r="r" b="b"/>
            <a:pathLst>
              <a:path w="2362200" h="1066800">
                <a:moveTo>
                  <a:pt x="76202" y="0"/>
                </a:moveTo>
                <a:lnTo>
                  <a:pt x="2285998" y="0"/>
                </a:lnTo>
                <a:cubicBezTo>
                  <a:pt x="2328083" y="0"/>
                  <a:pt x="2362200" y="34117"/>
                  <a:pt x="2362200" y="76202"/>
                </a:cubicBezTo>
                <a:lnTo>
                  <a:pt x="2362200" y="990598"/>
                </a:lnTo>
                <a:cubicBezTo>
                  <a:pt x="2362200" y="1032683"/>
                  <a:pt x="2328083" y="1066800"/>
                  <a:pt x="22859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96050" y="243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6743700" y="24003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Insights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43700" y="2667000"/>
            <a:ext cx="1933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ML-powered scheduling predictions and recommendations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2700" y="34671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36195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6743700" y="35814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Workload Balancing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43700" y="38481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for fair workload distribution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2700" y="44577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2" name="Shape 50"/>
          <p:cNvSpPr/>
          <p:nvPr/>
        </p:nvSpPr>
        <p:spPr>
          <a:xfrm>
            <a:off x="6486525" y="4610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3" name="Text 51"/>
          <p:cNvSpPr/>
          <p:nvPr/>
        </p:nvSpPr>
        <p:spPr>
          <a:xfrm>
            <a:off x="6743700" y="4572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Dashboards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43700" y="48387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views for system-wide analytics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67800" y="1447800"/>
            <a:ext cx="2743200" cy="5029200"/>
          </a:xfrm>
          <a:custGeom>
            <a:avLst/>
            <a:gdLst/>
            <a:ahLst/>
            <a:cxnLst/>
            <a:rect l="l" t="t" r="r" b="b"/>
            <a:pathLst>
              <a:path w="2743200" h="5029200">
                <a:moveTo>
                  <a:pt x="114309" y="0"/>
                </a:moveTo>
                <a:lnTo>
                  <a:pt x="2628891" y="0"/>
                </a:lnTo>
                <a:cubicBezTo>
                  <a:pt x="2692022" y="0"/>
                  <a:pt x="2743200" y="51178"/>
                  <a:pt x="2743200" y="114309"/>
                </a:cubicBezTo>
                <a:lnTo>
                  <a:pt x="2743200" y="4914891"/>
                </a:lnTo>
                <a:cubicBezTo>
                  <a:pt x="2743200" y="4978022"/>
                  <a:pt x="2692022" y="5029200"/>
                  <a:pt x="2628891" y="5029200"/>
                </a:cubicBezTo>
                <a:lnTo>
                  <a:pt x="114309" y="5029200"/>
                </a:lnTo>
                <a:cubicBezTo>
                  <a:pt x="51178" y="5029200"/>
                  <a:pt x="0" y="4978022"/>
                  <a:pt x="0" y="49148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gradFill rotWithShape="1" flip="none">
            <a:gsLst>
              <a:gs pos="0">
                <a:srgbClr val="0D1B2A"/>
              </a:gs>
              <a:gs pos="100000">
                <a:srgbClr val="415A77"/>
              </a:gs>
            </a:gsLst>
            <a:lin ang="2700000" scaled="1"/>
          </a:gradFill>
          <a:ln/>
        </p:spPr>
      </p:sp>
      <p:sp>
        <p:nvSpPr>
          <p:cNvPr id="56" name="Shape 54"/>
          <p:cNvSpPr/>
          <p:nvPr/>
        </p:nvSpPr>
        <p:spPr>
          <a:xfrm>
            <a:off x="92583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7" name="Text 55"/>
          <p:cNvSpPr/>
          <p:nvPr/>
        </p:nvSpPr>
        <p:spPr>
          <a:xfrm>
            <a:off x="92106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829800" y="173355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Optimization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258300" y="22479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91650" y="240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1" name="Text 59"/>
          <p:cNvSpPr/>
          <p:nvPr/>
        </p:nvSpPr>
        <p:spPr>
          <a:xfrm>
            <a:off x="9639300" y="23622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Auto-Scheduling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639300" y="26289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generates optimal schedules automatically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58300" y="3238500"/>
            <a:ext cx="2362200" cy="876300"/>
          </a:xfrm>
          <a:custGeom>
            <a:avLst/>
            <a:gdLst/>
            <a:ahLst/>
            <a:cxnLst/>
            <a:rect l="l" t="t" r="r" b="b"/>
            <a:pathLst>
              <a:path w="2362200" h="876300">
                <a:moveTo>
                  <a:pt x="76203" y="0"/>
                </a:moveTo>
                <a:lnTo>
                  <a:pt x="2285997" y="0"/>
                </a:lnTo>
                <a:cubicBezTo>
                  <a:pt x="2328083" y="0"/>
                  <a:pt x="2362200" y="34117"/>
                  <a:pt x="2362200" y="76203"/>
                </a:cubicBezTo>
                <a:lnTo>
                  <a:pt x="2362200" y="800097"/>
                </a:lnTo>
                <a:cubicBezTo>
                  <a:pt x="2362200" y="842183"/>
                  <a:pt x="2328083" y="876300"/>
                  <a:pt x="2285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391650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5" name="Text 63"/>
          <p:cNvSpPr/>
          <p:nvPr/>
        </p:nvSpPr>
        <p:spPr>
          <a:xfrm>
            <a:off x="9639300" y="33528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Conflict Prediction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639300" y="3619500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predicts potential conflicts before they occur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258300" y="4229100"/>
            <a:ext cx="2362200" cy="1066800"/>
          </a:xfrm>
          <a:custGeom>
            <a:avLst/>
            <a:gdLst/>
            <a:ahLst/>
            <a:cxnLst/>
            <a:rect l="l" t="t" r="r" b="b"/>
            <a:pathLst>
              <a:path w="2362200" h="1066800">
                <a:moveTo>
                  <a:pt x="76202" y="0"/>
                </a:moveTo>
                <a:lnTo>
                  <a:pt x="2285998" y="0"/>
                </a:lnTo>
                <a:cubicBezTo>
                  <a:pt x="2328083" y="0"/>
                  <a:pt x="2362200" y="34117"/>
                  <a:pt x="2362200" y="76202"/>
                </a:cubicBezTo>
                <a:lnTo>
                  <a:pt x="2362200" y="990598"/>
                </a:lnTo>
                <a:cubicBezTo>
                  <a:pt x="2362200" y="1032683"/>
                  <a:pt x="2328083" y="1066800"/>
                  <a:pt x="22859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10700" y="4381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9" name="Text 67"/>
          <p:cNvSpPr/>
          <p:nvPr/>
        </p:nvSpPr>
        <p:spPr>
          <a:xfrm>
            <a:off x="9639300" y="43434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Recommendations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639300" y="4610100"/>
            <a:ext cx="1933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shift recommendations based on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PageMe V3?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1104900"/>
                </a:lnTo>
                <a:cubicBezTo>
                  <a:pt x="5600700" y="1167984"/>
                  <a:pt x="5549484" y="1219200"/>
                  <a:pt x="54864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447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16383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Platform, Multiple Solutions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9812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 + tracking + compliance unified in one system. No more tool fragmentation. No more switching between applications.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194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352553"/>
                </a:lnTo>
                <a:cubicBezTo>
                  <a:pt x="5600700" y="1415678"/>
                  <a:pt x="5549528" y="1466850"/>
                  <a:pt x="54864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28194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009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15A77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162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30099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for Healthcare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352800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support for block scheduling, ACGME compliance, and healthcare-specific workflows. Not a generic tool adapted for healthcare.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43865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1104900"/>
                </a:lnTo>
                <a:cubicBezTo>
                  <a:pt x="5600700" y="1167984"/>
                  <a:pt x="5549484" y="1219200"/>
                  <a:pt x="54864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44386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629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4781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462915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Technology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497205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Cloud-native, API-first, extensible architecture. Replace legacy systems with future-proof technology that scales with your needs.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4478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352553"/>
                </a:lnTo>
                <a:cubicBezTo>
                  <a:pt x="5600700" y="1415678"/>
                  <a:pt x="5549528" y="1466850"/>
                  <a:pt x="54864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0300" y="14478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4" name="Shape 22"/>
          <p:cNvSpPr/>
          <p:nvPr/>
        </p:nvSpPr>
        <p:spPr>
          <a:xfrm>
            <a:off x="641985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15A77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57963" y="179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6" name="Text 24"/>
          <p:cNvSpPr/>
          <p:nvPr/>
        </p:nvSpPr>
        <p:spPr>
          <a:xfrm>
            <a:off x="7105650" y="16383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Than Legacy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05650" y="1981200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UX, real-time capabilities, visual scheduling. Healthcare workers deserve modern tools that make their jobs easier, not harder.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306705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352553"/>
                </a:lnTo>
                <a:cubicBezTo>
                  <a:pt x="5600700" y="1415678"/>
                  <a:pt x="5549528" y="1466850"/>
                  <a:pt x="54864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0300" y="30670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850" y="3257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6538" y="3409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7105650" y="325755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1B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Growth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05650" y="3600450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15A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residency programs to enterprise health systems. One platform grows with your organization, from single department to entire system.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4686300"/>
            <a:ext cx="5619750" cy="2171700"/>
          </a:xfrm>
          <a:custGeom>
            <a:avLst/>
            <a:gdLst/>
            <a:ahLst/>
            <a:cxnLst/>
            <a:rect l="l" t="t" r="r" b="b"/>
            <a:pathLst>
              <a:path w="5619750" h="21717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57403"/>
                </a:lnTo>
                <a:cubicBezTo>
                  <a:pt x="5619750" y="2120528"/>
                  <a:pt x="5568578" y="2171700"/>
                  <a:pt x="5505453" y="2171700"/>
                </a:cubicBezTo>
                <a:lnTo>
                  <a:pt x="114297" y="2171700"/>
                </a:lnTo>
                <a:cubicBezTo>
                  <a:pt x="51172" y="2171700"/>
                  <a:pt x="0" y="2120528"/>
                  <a:pt x="0" y="20574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0D1B2A"/>
              </a:gs>
              <a:gs pos="100000">
                <a:srgbClr val="415A77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8829675" y="4876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6324600" y="5334000"/>
            <a:ext cx="535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Differentiation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0800" y="5791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6648450" y="57531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scheduling native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77325" y="5791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9324975" y="57531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compliance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0800" y="613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6648450" y="60960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UX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77325" y="613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9324975" y="60960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SaaS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0" y="647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6648450" y="64389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 platform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7325" y="647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9324975" y="643890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API-first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pinimg.com/b8d1d3db2336e5b36fc90924b1890b876fcbeeb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9834" b="98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B2A">
                  <a:alpha val="95000"/>
                </a:srgbClr>
              </a:gs>
              <a:gs pos="50000">
                <a:srgbClr val="415A77">
                  <a:alpha val="85000"/>
                </a:srgbClr>
              </a:gs>
              <a:gs pos="100000">
                <a:srgbClr val="00B4D8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71715" y="852488"/>
            <a:ext cx="2847975" cy="390525"/>
          </a:xfrm>
          <a:custGeom>
            <a:avLst/>
            <a:gdLst/>
            <a:ahLst/>
            <a:cxnLst/>
            <a:rect l="l" t="t" r="r" b="b"/>
            <a:pathLst>
              <a:path w="2847975" h="390525">
                <a:moveTo>
                  <a:pt x="195263" y="0"/>
                </a:moveTo>
                <a:lnTo>
                  <a:pt x="2652713" y="0"/>
                </a:lnTo>
                <a:cubicBezTo>
                  <a:pt x="2760481" y="0"/>
                  <a:pt x="2847975" y="87494"/>
                  <a:pt x="2847975" y="195263"/>
                </a:cubicBezTo>
                <a:lnTo>
                  <a:pt x="2847975" y="195263"/>
                </a:lnTo>
                <a:cubicBezTo>
                  <a:pt x="2847975" y="303031"/>
                  <a:pt x="2760481" y="390525"/>
                  <a:pt x="26527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66977" y="962025"/>
            <a:ext cx="245797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20" kern="0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Healthcare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6862" y="1704975"/>
            <a:ext cx="102584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Healthcare Workforce Management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90775" y="2505075"/>
            <a:ext cx="74104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1DD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PageMe V3 is positioned to transform how healthcare organizations manage their most valuable asset—their people. With a massive addressable market, differentiated technology, and clear expansion path, we're building the workforce management platform healthcare deserves.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78609" y="4052888"/>
            <a:ext cx="1724025" cy="1076325"/>
          </a:xfrm>
          <a:custGeom>
            <a:avLst/>
            <a:gdLst/>
            <a:ahLst/>
            <a:cxnLst/>
            <a:rect l="l" t="t" r="r" b="b"/>
            <a:pathLst>
              <a:path w="1724025" h="1076325">
                <a:moveTo>
                  <a:pt x="114295" y="0"/>
                </a:moveTo>
                <a:lnTo>
                  <a:pt x="1609730" y="0"/>
                </a:lnTo>
                <a:cubicBezTo>
                  <a:pt x="1672853" y="0"/>
                  <a:pt x="1724025" y="51172"/>
                  <a:pt x="1724025" y="114295"/>
                </a:cubicBezTo>
                <a:lnTo>
                  <a:pt x="1724025" y="962030"/>
                </a:lnTo>
                <a:cubicBezTo>
                  <a:pt x="1724025" y="1025153"/>
                  <a:pt x="1672853" y="1076325"/>
                  <a:pt x="160973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8147" y="4248150"/>
            <a:ext cx="150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$731M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35772" y="470535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by 2030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36220" y="4052888"/>
            <a:ext cx="1724025" cy="1076325"/>
          </a:xfrm>
          <a:custGeom>
            <a:avLst/>
            <a:gdLst/>
            <a:ahLst/>
            <a:cxnLst/>
            <a:rect l="l" t="t" r="r" b="b"/>
            <a:pathLst>
              <a:path w="1724025" h="1076325">
                <a:moveTo>
                  <a:pt x="114295" y="0"/>
                </a:moveTo>
                <a:lnTo>
                  <a:pt x="1609730" y="0"/>
                </a:lnTo>
                <a:cubicBezTo>
                  <a:pt x="1672853" y="0"/>
                  <a:pt x="1724025" y="51172"/>
                  <a:pt x="1724025" y="114295"/>
                </a:cubicBezTo>
                <a:lnTo>
                  <a:pt x="1724025" y="962030"/>
                </a:lnTo>
                <a:cubicBezTo>
                  <a:pt x="1724025" y="1025153"/>
                  <a:pt x="1672853" y="1076325"/>
                  <a:pt x="160973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5757" y="4248150"/>
            <a:ext cx="150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13.1%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3382" y="470535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Growth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193831" y="4052888"/>
            <a:ext cx="1724025" cy="1076325"/>
          </a:xfrm>
          <a:custGeom>
            <a:avLst/>
            <a:gdLst/>
            <a:ahLst/>
            <a:cxnLst/>
            <a:rect l="l" t="t" r="r" b="b"/>
            <a:pathLst>
              <a:path w="1724025" h="1076325">
                <a:moveTo>
                  <a:pt x="114295" y="0"/>
                </a:moveTo>
                <a:lnTo>
                  <a:pt x="1609730" y="0"/>
                </a:lnTo>
                <a:cubicBezTo>
                  <a:pt x="1672853" y="0"/>
                  <a:pt x="1724025" y="51172"/>
                  <a:pt x="1724025" y="114295"/>
                </a:cubicBezTo>
                <a:lnTo>
                  <a:pt x="1724025" y="962030"/>
                </a:lnTo>
                <a:cubicBezTo>
                  <a:pt x="1724025" y="1025153"/>
                  <a:pt x="1672853" y="1076325"/>
                  <a:pt x="160973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03368" y="4248150"/>
            <a:ext cx="150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20M+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50993" y="470535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Workers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73624" y="5438775"/>
            <a:ext cx="4448175" cy="571500"/>
          </a:xfrm>
          <a:custGeom>
            <a:avLst/>
            <a:gdLst/>
            <a:ahLst/>
            <a:cxnLst/>
            <a:rect l="l" t="t" r="r" b="b"/>
            <a:pathLst>
              <a:path w="4448175" h="571500">
                <a:moveTo>
                  <a:pt x="285750" y="0"/>
                </a:moveTo>
                <a:lnTo>
                  <a:pt x="4162425" y="0"/>
                </a:lnTo>
                <a:cubicBezTo>
                  <a:pt x="4320135" y="0"/>
                  <a:pt x="4448175" y="128040"/>
                  <a:pt x="4448175" y="285750"/>
                </a:cubicBezTo>
                <a:lnTo>
                  <a:pt x="4448175" y="285750"/>
                </a:lnTo>
                <a:cubicBezTo>
                  <a:pt x="4448175" y="443460"/>
                  <a:pt x="4320135" y="571500"/>
                  <a:pt x="4162425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4130799" y="5586413"/>
            <a:ext cx="393040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Us in Modernizing Healthcare Scheduling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PageMe V3 Pitch Deck</dc:title>
  <dc:subject>PageMe V3 Pitch Deck</dc:subject>
  <dc:creator>Kimi</dc:creator>
  <cp:lastModifiedBy>Kimi</cp:lastModifiedBy>
  <cp:revision>1</cp:revision>
  <dcterms:created xsi:type="dcterms:W3CDTF">2026-02-03T03:21:55Z</dcterms:created>
  <dcterms:modified xsi:type="dcterms:W3CDTF">2026-02-03T03:21:55Z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{"Label":"PageMe V3 Pitch Deck","ContentProducer":"001191110108MACG2KBH8F10000","ProduceID":"19c21807-d4d2-8028-8000-000026fe2ce2","ReservedCode1":"","ContentPropagator":"001191110108MACG2KBH8F20000","PropagateID":"19c21807-d4d2-8028-8000-000026fe2ce2","ReservedCode2":""}</vt:lpwstr>
  </property>
</Properties>
</file>